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aytone One" charset="1" panose="00000500000000000000"/>
      <p:regular r:id="rId16"/>
    </p:embeddedFont>
    <p:embeddedFont>
      <p:font typeface="Montserrat Bold" charset="1" panose="00000800000000000000"/>
      <p:regular r:id="rId17"/>
    </p:embeddedFont>
    <p:embeddedFont>
      <p:font typeface="Carlito Bold" charset="1" panose="020F0502020204030204"/>
      <p:regular r:id="rId18"/>
    </p:embeddedFont>
    <p:embeddedFont>
      <p:font typeface="Montserrat" charset="1" panose="00000500000000000000"/>
      <p:regular r:id="rId19"/>
    </p:embeddedFont>
    <p:embeddedFont>
      <p:font typeface="Carlito" charset="1" panose="020F050202020403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 Id="rId4" Target="../media/image2.png" Type="http://schemas.openxmlformats.org/officeDocument/2006/relationships/image"/><Relationship Id="rId5"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654567" cy="10493194"/>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grpSp>
        <p:nvGrpSpPr>
          <p:cNvPr name="Group 4" id="4"/>
          <p:cNvGrpSpPr/>
          <p:nvPr/>
        </p:nvGrpSpPr>
        <p:grpSpPr>
          <a:xfrm rot="0">
            <a:off x="12470958" y="5384485"/>
            <a:ext cx="10268562" cy="8394555"/>
            <a:chOff x="0" y="0"/>
            <a:chExt cx="7550086" cy="6172200"/>
          </a:xfrm>
        </p:grpSpPr>
        <p:sp>
          <p:nvSpPr>
            <p:cNvPr name="Freeform 5" id="5"/>
            <p:cNvSpPr/>
            <p:nvPr/>
          </p:nvSpPr>
          <p:spPr>
            <a:xfrm flipH="true" flipV="true" rot="0">
              <a:off x="0" y="0"/>
              <a:ext cx="7550150" cy="6172200"/>
            </a:xfrm>
            <a:custGeom>
              <a:avLst/>
              <a:gdLst/>
              <a:ahLst/>
              <a:cxnLst/>
              <a:rect r="r" b="b" t="t" l="l"/>
              <a:pathLst>
                <a:path h="6172200" w="7550150">
                  <a:moveTo>
                    <a:pt x="7550150" y="6172200"/>
                  </a:moveTo>
                  <a:lnTo>
                    <a:pt x="0" y="6172200"/>
                  </a:lnTo>
                  <a:lnTo>
                    <a:pt x="0" y="0"/>
                  </a:lnTo>
                  <a:lnTo>
                    <a:pt x="7550150" y="0"/>
                  </a:lnTo>
                  <a:lnTo>
                    <a:pt x="7550150" y="6172200"/>
                  </a:lnTo>
                  <a:close/>
                </a:path>
              </a:pathLst>
            </a:custGeom>
            <a:blipFill>
              <a:blip r:embed="rId3">
                <a:alphaModFix amt="31000"/>
              </a:blip>
              <a:stretch>
                <a:fillRect l="0" t="-19" r="0" b="-19"/>
              </a:stretch>
            </a:blipFill>
          </p:spPr>
        </p:sp>
      </p:grpSp>
      <p:sp>
        <p:nvSpPr>
          <p:cNvPr name="TextBox 6" id="6"/>
          <p:cNvSpPr txBox="true"/>
          <p:nvPr/>
        </p:nvSpPr>
        <p:spPr>
          <a:xfrm rot="0">
            <a:off x="3068780" y="1017593"/>
            <a:ext cx="12517025" cy="1209175"/>
          </a:xfrm>
          <a:prstGeom prst="rect">
            <a:avLst/>
          </a:prstGeom>
        </p:spPr>
        <p:txBody>
          <a:bodyPr anchor="t" rtlCol="false" tIns="0" lIns="0" bIns="0" rIns="0">
            <a:spAutoFit/>
          </a:bodyPr>
          <a:lstStyle/>
          <a:p>
            <a:pPr algn="ctr">
              <a:lnSpc>
                <a:spcPts val="9002"/>
              </a:lnSpc>
            </a:pPr>
            <a:r>
              <a:rPr lang="en-US" sz="6429">
                <a:solidFill>
                  <a:srgbClr val="000000"/>
                </a:solidFill>
                <a:latin typeface="Paytone One"/>
                <a:ea typeface="Paytone One"/>
                <a:cs typeface="Paytone One"/>
                <a:sym typeface="Paytone One"/>
              </a:rPr>
              <a:t>BÁO CÁO KIỂM THỬ PHẦN MỀM</a:t>
            </a:r>
          </a:p>
        </p:txBody>
      </p:sp>
      <p:sp>
        <p:nvSpPr>
          <p:cNvPr name="TextBox 7" id="7"/>
          <p:cNvSpPr txBox="true"/>
          <p:nvPr/>
        </p:nvSpPr>
        <p:spPr>
          <a:xfrm rot="0">
            <a:off x="1049319" y="6014026"/>
            <a:ext cx="9941969" cy="2508676"/>
          </a:xfrm>
          <a:prstGeom prst="rect">
            <a:avLst/>
          </a:prstGeom>
        </p:spPr>
        <p:txBody>
          <a:bodyPr anchor="t" rtlCol="false" tIns="0" lIns="0" bIns="0" rIns="0">
            <a:spAutoFit/>
          </a:bodyPr>
          <a:lstStyle/>
          <a:p>
            <a:pPr algn="l">
              <a:lnSpc>
                <a:spcPts val="4079"/>
              </a:lnSpc>
            </a:pPr>
            <a:r>
              <a:rPr lang="en-US" sz="4079" b="true">
                <a:solidFill>
                  <a:srgbClr val="000000"/>
                </a:solidFill>
                <a:latin typeface="Montserrat Bold"/>
                <a:ea typeface="Montserrat Bold"/>
                <a:cs typeface="Montserrat Bold"/>
                <a:sym typeface="Montserrat Bold"/>
              </a:rPr>
              <a:t>Họ và Tên: Trần Quốc Khánh</a:t>
            </a:r>
          </a:p>
          <a:p>
            <a:pPr algn="l">
              <a:lnSpc>
                <a:spcPts val="4079"/>
              </a:lnSpc>
            </a:pPr>
          </a:p>
          <a:p>
            <a:pPr algn="l">
              <a:lnSpc>
                <a:spcPts val="4079"/>
              </a:lnSpc>
            </a:pPr>
            <a:r>
              <a:rPr lang="en-US" sz="4079" b="true">
                <a:solidFill>
                  <a:srgbClr val="000000"/>
                </a:solidFill>
                <a:latin typeface="Montserrat Bold"/>
                <a:ea typeface="Montserrat Bold"/>
                <a:cs typeface="Montserrat Bold"/>
                <a:sym typeface="Montserrat Bold"/>
              </a:rPr>
              <a:t>MSSV: 1150080098</a:t>
            </a:r>
          </a:p>
          <a:p>
            <a:pPr algn="l">
              <a:lnSpc>
                <a:spcPts val="4079"/>
              </a:lnSpc>
            </a:pPr>
          </a:p>
          <a:p>
            <a:pPr algn="l">
              <a:lnSpc>
                <a:spcPts val="4079"/>
              </a:lnSpc>
            </a:pPr>
            <a:r>
              <a:rPr lang="en-US" sz="4079" b="true">
                <a:solidFill>
                  <a:srgbClr val="000000"/>
                </a:solidFill>
                <a:latin typeface="Montserrat Bold"/>
                <a:ea typeface="Montserrat Bold"/>
                <a:cs typeface="Montserrat Bold"/>
                <a:sym typeface="Montserrat Bold"/>
              </a:rPr>
              <a:t>Lớp: 11_CNPM_2</a:t>
            </a:r>
          </a:p>
        </p:txBody>
      </p:sp>
      <p:sp>
        <p:nvSpPr>
          <p:cNvPr name="TextBox 8" id="8"/>
          <p:cNvSpPr txBox="true"/>
          <p:nvPr/>
        </p:nvSpPr>
        <p:spPr>
          <a:xfrm rot="0">
            <a:off x="3541121" y="2820487"/>
            <a:ext cx="11572326" cy="2083039"/>
          </a:xfrm>
          <a:prstGeom prst="rect">
            <a:avLst/>
          </a:prstGeom>
        </p:spPr>
        <p:txBody>
          <a:bodyPr anchor="t" rtlCol="false" tIns="0" lIns="0" bIns="0" rIns="0">
            <a:spAutoFit/>
          </a:bodyPr>
          <a:lstStyle/>
          <a:p>
            <a:pPr algn="ctr">
              <a:lnSpc>
                <a:spcPts val="7139"/>
              </a:lnSpc>
            </a:pPr>
            <a:r>
              <a:rPr lang="en-US" sz="5099" b="true">
                <a:solidFill>
                  <a:srgbClr val="000000"/>
                </a:solidFill>
                <a:latin typeface="Carlito Bold"/>
                <a:ea typeface="Carlito Bold"/>
                <a:cs typeface="Carlito Bold"/>
                <a:sym typeface="Carlito Bold"/>
              </a:rPr>
              <a:t>Xây dựng framework UI automation E2E + phân tích &amp; giảm flaky tests (web app)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54451" cy="10324379"/>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grpSp>
        <p:nvGrpSpPr>
          <p:cNvPr name="Group 4" id="4"/>
          <p:cNvGrpSpPr/>
          <p:nvPr/>
        </p:nvGrpSpPr>
        <p:grpSpPr>
          <a:xfrm rot="0">
            <a:off x="12270325" y="5297859"/>
            <a:ext cx="10103361" cy="8259503"/>
            <a:chOff x="0" y="0"/>
            <a:chExt cx="7550086" cy="6172200"/>
          </a:xfrm>
        </p:grpSpPr>
        <p:sp>
          <p:nvSpPr>
            <p:cNvPr name="Freeform 5" id="5"/>
            <p:cNvSpPr/>
            <p:nvPr/>
          </p:nvSpPr>
          <p:spPr>
            <a:xfrm flipH="true" flipV="true" rot="0">
              <a:off x="0" y="0"/>
              <a:ext cx="7550150" cy="6172200"/>
            </a:xfrm>
            <a:custGeom>
              <a:avLst/>
              <a:gdLst/>
              <a:ahLst/>
              <a:cxnLst/>
              <a:rect r="r" b="b" t="t" l="l"/>
              <a:pathLst>
                <a:path h="6172200" w="7550150">
                  <a:moveTo>
                    <a:pt x="7550150" y="6172200"/>
                  </a:moveTo>
                  <a:lnTo>
                    <a:pt x="0" y="6172200"/>
                  </a:lnTo>
                  <a:lnTo>
                    <a:pt x="0" y="0"/>
                  </a:lnTo>
                  <a:lnTo>
                    <a:pt x="7550150" y="0"/>
                  </a:lnTo>
                  <a:lnTo>
                    <a:pt x="7550150" y="6172200"/>
                  </a:lnTo>
                  <a:close/>
                </a:path>
              </a:pathLst>
            </a:custGeom>
            <a:blipFill>
              <a:blip r:embed="rId3">
                <a:alphaModFix amt="31000"/>
              </a:blip>
              <a:stretch>
                <a:fillRect l="0" t="-19" r="0" b="-19"/>
              </a:stretch>
            </a:blipFill>
          </p:spPr>
        </p:sp>
      </p:grpSp>
      <p:sp>
        <p:nvSpPr>
          <p:cNvPr name="TextBox 6" id="6"/>
          <p:cNvSpPr txBox="true"/>
          <p:nvPr/>
        </p:nvSpPr>
        <p:spPr>
          <a:xfrm rot="0">
            <a:off x="751802" y="999229"/>
            <a:ext cx="14340564" cy="1084725"/>
          </a:xfrm>
          <a:prstGeom prst="rect">
            <a:avLst/>
          </a:prstGeom>
        </p:spPr>
        <p:txBody>
          <a:bodyPr anchor="t" rtlCol="false" tIns="0" lIns="0" bIns="0" rIns="0">
            <a:spAutoFit/>
          </a:bodyPr>
          <a:lstStyle/>
          <a:p>
            <a:pPr algn="ctr">
              <a:lnSpc>
                <a:spcPts val="8857"/>
              </a:lnSpc>
            </a:pPr>
            <a:r>
              <a:rPr lang="en-US" sz="6326">
                <a:solidFill>
                  <a:srgbClr val="000000"/>
                </a:solidFill>
                <a:latin typeface="Paytone One"/>
                <a:ea typeface="Paytone One"/>
                <a:cs typeface="Paytone One"/>
                <a:sym typeface="Paytone One"/>
              </a:rPr>
              <a:t>Phần 1: Tổng quan về dự án</a:t>
            </a:r>
          </a:p>
        </p:txBody>
      </p:sp>
      <p:sp>
        <p:nvSpPr>
          <p:cNvPr name="TextBox 7" id="7"/>
          <p:cNvSpPr txBox="true"/>
          <p:nvPr/>
        </p:nvSpPr>
        <p:spPr>
          <a:xfrm rot="0">
            <a:off x="9580922" y="3668303"/>
            <a:ext cx="8382291" cy="2258570"/>
          </a:xfrm>
          <a:prstGeom prst="rect">
            <a:avLst/>
          </a:prstGeom>
        </p:spPr>
        <p:txBody>
          <a:bodyPr anchor="t" rtlCol="false" tIns="0" lIns="0" bIns="0" rIns="0">
            <a:spAutoFit/>
          </a:bodyPr>
          <a:lstStyle/>
          <a:p>
            <a:pPr algn="just" marL="521190" indent="-173730" lvl="2">
              <a:lnSpc>
                <a:spcPts val="3010"/>
              </a:lnSpc>
              <a:buFont typeface="Arial"/>
              <a:buChar char="⚬"/>
            </a:pPr>
            <a:r>
              <a:rPr lang="en-US" sz="3010">
                <a:solidFill>
                  <a:srgbClr val="000000"/>
                </a:solidFill>
                <a:latin typeface="Montserrat"/>
                <a:ea typeface="Montserrat"/>
                <a:cs typeface="Montserrat"/>
                <a:sym typeface="Montserrat"/>
              </a:rPr>
              <a:t>Tự động hóa quy trình kiểm thử thay cho test thủ công.</a:t>
            </a:r>
          </a:p>
          <a:p>
            <a:pPr algn="just" marL="521190" indent="-173730" lvl="2">
              <a:lnSpc>
                <a:spcPts val="3010"/>
              </a:lnSpc>
              <a:buFont typeface="Arial"/>
              <a:buChar char="⚬"/>
            </a:pPr>
            <a:r>
              <a:rPr lang="en-US" sz="3010">
                <a:solidFill>
                  <a:srgbClr val="000000"/>
                </a:solidFill>
                <a:latin typeface="Montserrat"/>
                <a:ea typeface="Montserrat"/>
                <a:cs typeface="Montserrat"/>
                <a:sym typeface="Montserrat"/>
              </a:rPr>
              <a:t>Giảm tình trạng Flaky Tests (test không ổn định).</a:t>
            </a:r>
          </a:p>
          <a:p>
            <a:pPr algn="just" marL="521190" indent="-173730" lvl="2">
              <a:lnSpc>
                <a:spcPts val="3010"/>
              </a:lnSpc>
              <a:buFont typeface="Arial"/>
              <a:buChar char="⚬"/>
            </a:pPr>
            <a:r>
              <a:rPr lang="en-US" sz="3010">
                <a:solidFill>
                  <a:srgbClr val="000000"/>
                </a:solidFill>
                <a:latin typeface="Montserrat"/>
                <a:ea typeface="Montserrat"/>
                <a:cs typeface="Montserrat"/>
                <a:sym typeface="Montserrat"/>
              </a:rPr>
              <a:t>Nâng cao chất lượng và độ tin cậy của phần mềm.</a:t>
            </a:r>
          </a:p>
        </p:txBody>
      </p:sp>
      <p:sp>
        <p:nvSpPr>
          <p:cNvPr name="TextBox 8" id="8"/>
          <p:cNvSpPr txBox="true"/>
          <p:nvPr/>
        </p:nvSpPr>
        <p:spPr>
          <a:xfrm rot="0">
            <a:off x="751802" y="3668303"/>
            <a:ext cx="8286440" cy="1876186"/>
          </a:xfrm>
          <a:prstGeom prst="rect">
            <a:avLst/>
          </a:prstGeom>
        </p:spPr>
        <p:txBody>
          <a:bodyPr anchor="t" rtlCol="false" tIns="0" lIns="0" bIns="0" rIns="0">
            <a:spAutoFit/>
          </a:bodyPr>
          <a:lstStyle/>
          <a:p>
            <a:pPr algn="just">
              <a:lnSpc>
                <a:spcPts val="3010"/>
              </a:lnSpc>
            </a:pPr>
            <a:r>
              <a:rPr lang="en-US" sz="3010">
                <a:solidFill>
                  <a:srgbClr val="000000"/>
                </a:solidFill>
                <a:latin typeface="Montserrat"/>
                <a:ea typeface="Montserrat"/>
                <a:cs typeface="Montserrat"/>
                <a:sym typeface="Montserrat"/>
              </a:rPr>
              <a:t>Xây dựng framework Automation Testing cho ứng dụng web sử dụng Playwright (Java), áp dụng mô hình Page Object Model (POM) để thực hiện kiểm thử End-to-End.</a:t>
            </a:r>
          </a:p>
        </p:txBody>
      </p:sp>
      <p:sp>
        <p:nvSpPr>
          <p:cNvPr name="TextBox 9" id="9"/>
          <p:cNvSpPr txBox="true"/>
          <p:nvPr/>
        </p:nvSpPr>
        <p:spPr>
          <a:xfrm rot="0">
            <a:off x="751802" y="3086960"/>
            <a:ext cx="3173077" cy="346648"/>
          </a:xfrm>
          <a:prstGeom prst="rect">
            <a:avLst/>
          </a:prstGeom>
        </p:spPr>
        <p:txBody>
          <a:bodyPr anchor="t" rtlCol="false" tIns="0" lIns="0" bIns="0" rIns="0">
            <a:spAutoFit/>
          </a:bodyPr>
          <a:lstStyle/>
          <a:p>
            <a:pPr algn="just">
              <a:lnSpc>
                <a:spcPts val="3010"/>
              </a:lnSpc>
            </a:pPr>
            <a:r>
              <a:rPr lang="en-US" sz="3010" b="true">
                <a:solidFill>
                  <a:srgbClr val="000000"/>
                </a:solidFill>
                <a:latin typeface="Montserrat Bold"/>
                <a:ea typeface="Montserrat Bold"/>
                <a:cs typeface="Montserrat Bold"/>
                <a:sym typeface="Montserrat Bold"/>
              </a:rPr>
              <a:t>Giới thiệu đề tài</a:t>
            </a:r>
          </a:p>
        </p:txBody>
      </p:sp>
      <p:sp>
        <p:nvSpPr>
          <p:cNvPr name="TextBox 10" id="10"/>
          <p:cNvSpPr txBox="true"/>
          <p:nvPr/>
        </p:nvSpPr>
        <p:spPr>
          <a:xfrm rot="0">
            <a:off x="751802" y="7264637"/>
            <a:ext cx="8286440" cy="2258570"/>
          </a:xfrm>
          <a:prstGeom prst="rect">
            <a:avLst/>
          </a:prstGeom>
        </p:spPr>
        <p:txBody>
          <a:bodyPr anchor="t" rtlCol="false" tIns="0" lIns="0" bIns="0" rIns="0">
            <a:spAutoFit/>
          </a:bodyPr>
          <a:lstStyle/>
          <a:p>
            <a:pPr algn="just" marL="521190" indent="-173730" lvl="2">
              <a:lnSpc>
                <a:spcPts val="3010"/>
              </a:lnSpc>
              <a:buFont typeface="Arial"/>
              <a:buChar char="⚬"/>
            </a:pPr>
            <a:r>
              <a:rPr lang="en-US" sz="3010">
                <a:solidFill>
                  <a:srgbClr val="000000"/>
                </a:solidFill>
                <a:latin typeface="Montserrat"/>
                <a:ea typeface="Montserrat"/>
                <a:cs typeface="Montserrat"/>
                <a:sym typeface="Montserrat"/>
              </a:rPr>
              <a:t>Xây dựng framework test UI hoàn chỉnh cho hệ thống DemoQA.</a:t>
            </a:r>
          </a:p>
          <a:p>
            <a:pPr algn="just" marL="521190" indent="-173730" lvl="2">
              <a:lnSpc>
                <a:spcPts val="3010"/>
              </a:lnSpc>
              <a:buFont typeface="Arial"/>
              <a:buChar char="⚬"/>
            </a:pPr>
            <a:r>
              <a:rPr lang="en-US" sz="3010">
                <a:solidFill>
                  <a:srgbClr val="000000"/>
                </a:solidFill>
                <a:latin typeface="Montserrat"/>
                <a:ea typeface="Montserrat"/>
                <a:cs typeface="Montserrat"/>
                <a:sym typeface="Montserrat"/>
              </a:rPr>
              <a:t>Thiết kế theo mô hình POM giúp dễ bảo trì và mở rộng.</a:t>
            </a:r>
          </a:p>
          <a:p>
            <a:pPr algn="just" marL="521190" indent="-173730" lvl="2">
              <a:lnSpc>
                <a:spcPts val="3010"/>
              </a:lnSpc>
              <a:buFont typeface="Arial"/>
              <a:buChar char="⚬"/>
            </a:pPr>
            <a:r>
              <a:rPr lang="en-US" sz="3010">
                <a:solidFill>
                  <a:srgbClr val="000000"/>
                </a:solidFill>
                <a:latin typeface="Montserrat"/>
                <a:ea typeface="Montserrat"/>
                <a:cs typeface="Montserrat"/>
                <a:sym typeface="Montserrat"/>
              </a:rPr>
              <a:t>Hỗ trợ chạy test tự động và xuất báo cáo kết quả.</a:t>
            </a:r>
          </a:p>
        </p:txBody>
      </p:sp>
      <p:sp>
        <p:nvSpPr>
          <p:cNvPr name="TextBox 11" id="11"/>
          <p:cNvSpPr txBox="true"/>
          <p:nvPr/>
        </p:nvSpPr>
        <p:spPr>
          <a:xfrm rot="0">
            <a:off x="9580922" y="7264637"/>
            <a:ext cx="8382291" cy="1493801"/>
          </a:xfrm>
          <a:prstGeom prst="rect">
            <a:avLst/>
          </a:prstGeom>
        </p:spPr>
        <p:txBody>
          <a:bodyPr anchor="t" rtlCol="false" tIns="0" lIns="0" bIns="0" rIns="0">
            <a:spAutoFit/>
          </a:bodyPr>
          <a:lstStyle/>
          <a:p>
            <a:pPr algn="l" marL="521190" indent="-173730" lvl="2">
              <a:lnSpc>
                <a:spcPts val="3010"/>
              </a:lnSpc>
              <a:buFont typeface="Arial"/>
              <a:buChar char="⚬"/>
            </a:pPr>
            <a:r>
              <a:rPr lang="en-US" sz="3010">
                <a:solidFill>
                  <a:srgbClr val="000000"/>
                </a:solidFill>
                <a:latin typeface="Montserrat"/>
                <a:ea typeface="Montserrat"/>
                <a:cs typeface="Montserrat"/>
                <a:sym typeface="Montserrat"/>
              </a:rPr>
              <a:t>Xây dựng framework E2E automation.</a:t>
            </a:r>
          </a:p>
          <a:p>
            <a:pPr algn="l" marL="521190" indent="-173730" lvl="2">
              <a:lnSpc>
                <a:spcPts val="3010"/>
              </a:lnSpc>
              <a:buFont typeface="Arial"/>
              <a:buChar char="⚬"/>
            </a:pPr>
            <a:r>
              <a:rPr lang="en-US" sz="3010">
                <a:solidFill>
                  <a:srgbClr val="000000"/>
                </a:solidFill>
                <a:latin typeface="Montserrat"/>
                <a:ea typeface="Montserrat"/>
                <a:cs typeface="Montserrat"/>
                <a:sym typeface="Montserrat"/>
              </a:rPr>
              <a:t>Phân tích nguyên nhân gây flaky tests.</a:t>
            </a:r>
          </a:p>
          <a:p>
            <a:pPr algn="l" marL="521190" indent="-173730" lvl="2">
              <a:lnSpc>
                <a:spcPts val="3010"/>
              </a:lnSpc>
              <a:buFont typeface="Arial"/>
              <a:buChar char="⚬"/>
            </a:pPr>
            <a:r>
              <a:rPr lang="en-US" sz="3010">
                <a:solidFill>
                  <a:srgbClr val="000000"/>
                </a:solidFill>
                <a:latin typeface="Montserrat"/>
                <a:ea typeface="Montserrat"/>
                <a:cs typeface="Montserrat"/>
                <a:sym typeface="Montserrat"/>
              </a:rPr>
              <a:t>Áp dụng kỹ thuật giúp test chạy ổn định hơn.</a:t>
            </a:r>
          </a:p>
        </p:txBody>
      </p:sp>
      <p:sp>
        <p:nvSpPr>
          <p:cNvPr name="TextBox 12" id="12"/>
          <p:cNvSpPr txBox="true"/>
          <p:nvPr/>
        </p:nvSpPr>
        <p:spPr>
          <a:xfrm rot="0">
            <a:off x="9580922" y="3085176"/>
            <a:ext cx="2755921" cy="346648"/>
          </a:xfrm>
          <a:prstGeom prst="rect">
            <a:avLst/>
          </a:prstGeom>
        </p:spPr>
        <p:txBody>
          <a:bodyPr anchor="t" rtlCol="false" tIns="0" lIns="0" bIns="0" rIns="0">
            <a:spAutoFit/>
          </a:bodyPr>
          <a:lstStyle/>
          <a:p>
            <a:pPr algn="just">
              <a:lnSpc>
                <a:spcPts val="3010"/>
              </a:lnSpc>
            </a:pPr>
            <a:r>
              <a:rPr lang="en-US" sz="3010" b="true">
                <a:solidFill>
                  <a:srgbClr val="000000"/>
                </a:solidFill>
                <a:latin typeface="Montserrat Bold"/>
                <a:ea typeface="Montserrat Bold"/>
                <a:cs typeface="Montserrat Bold"/>
                <a:sym typeface="Montserrat Bold"/>
              </a:rPr>
              <a:t>Ý nghĩa đề tài</a:t>
            </a:r>
          </a:p>
        </p:txBody>
      </p:sp>
      <p:sp>
        <p:nvSpPr>
          <p:cNvPr name="TextBox 13" id="13"/>
          <p:cNvSpPr txBox="true"/>
          <p:nvPr/>
        </p:nvSpPr>
        <p:spPr>
          <a:xfrm rot="0">
            <a:off x="751802" y="6679589"/>
            <a:ext cx="3384102" cy="346648"/>
          </a:xfrm>
          <a:prstGeom prst="rect">
            <a:avLst/>
          </a:prstGeom>
        </p:spPr>
        <p:txBody>
          <a:bodyPr anchor="t" rtlCol="false" tIns="0" lIns="0" bIns="0" rIns="0">
            <a:spAutoFit/>
          </a:bodyPr>
          <a:lstStyle/>
          <a:p>
            <a:pPr algn="just">
              <a:lnSpc>
                <a:spcPts val="3010"/>
              </a:lnSpc>
            </a:pPr>
            <a:r>
              <a:rPr lang="en-US" sz="3010" b="true">
                <a:solidFill>
                  <a:srgbClr val="000000"/>
                </a:solidFill>
                <a:latin typeface="Montserrat Bold"/>
                <a:ea typeface="Montserrat Bold"/>
                <a:cs typeface="Montserrat Bold"/>
                <a:sym typeface="Montserrat Bold"/>
              </a:rPr>
              <a:t>Tổng quan dự án</a:t>
            </a:r>
          </a:p>
        </p:txBody>
      </p:sp>
      <p:sp>
        <p:nvSpPr>
          <p:cNvPr name="TextBox 14" id="14"/>
          <p:cNvSpPr txBox="true"/>
          <p:nvPr/>
        </p:nvSpPr>
        <p:spPr>
          <a:xfrm rot="0">
            <a:off x="9580922" y="6679589"/>
            <a:ext cx="2987969" cy="346648"/>
          </a:xfrm>
          <a:prstGeom prst="rect">
            <a:avLst/>
          </a:prstGeom>
        </p:spPr>
        <p:txBody>
          <a:bodyPr anchor="t" rtlCol="false" tIns="0" lIns="0" bIns="0" rIns="0">
            <a:spAutoFit/>
          </a:bodyPr>
          <a:lstStyle/>
          <a:p>
            <a:pPr algn="just">
              <a:lnSpc>
                <a:spcPts val="3010"/>
              </a:lnSpc>
            </a:pPr>
            <a:r>
              <a:rPr lang="en-US" sz="3010" b="true">
                <a:solidFill>
                  <a:srgbClr val="000000"/>
                </a:solidFill>
                <a:latin typeface="Montserrat Bold"/>
                <a:ea typeface="Montserrat Bold"/>
                <a:cs typeface="Montserrat Bold"/>
                <a:sym typeface="Montserrat Bold"/>
              </a:rPr>
              <a:t>Mục tiêu chính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505009" cy="10409068"/>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grpSp>
        <p:nvGrpSpPr>
          <p:cNvPr name="Group 4" id="4"/>
          <p:cNvGrpSpPr/>
          <p:nvPr/>
        </p:nvGrpSpPr>
        <p:grpSpPr>
          <a:xfrm rot="0">
            <a:off x="12370976" y="5341317"/>
            <a:ext cx="10186236" cy="8327254"/>
            <a:chOff x="0" y="0"/>
            <a:chExt cx="7550086" cy="6172200"/>
          </a:xfrm>
        </p:grpSpPr>
        <p:sp>
          <p:nvSpPr>
            <p:cNvPr name="Freeform 5" id="5"/>
            <p:cNvSpPr/>
            <p:nvPr/>
          </p:nvSpPr>
          <p:spPr>
            <a:xfrm flipH="true" flipV="true" rot="0">
              <a:off x="0" y="0"/>
              <a:ext cx="7550150" cy="6172200"/>
            </a:xfrm>
            <a:custGeom>
              <a:avLst/>
              <a:gdLst/>
              <a:ahLst/>
              <a:cxnLst/>
              <a:rect r="r" b="b" t="t" l="l"/>
              <a:pathLst>
                <a:path h="6172200" w="7550150">
                  <a:moveTo>
                    <a:pt x="7550150" y="6172200"/>
                  </a:moveTo>
                  <a:lnTo>
                    <a:pt x="0" y="6172200"/>
                  </a:lnTo>
                  <a:lnTo>
                    <a:pt x="0" y="0"/>
                  </a:lnTo>
                  <a:lnTo>
                    <a:pt x="7550150" y="0"/>
                  </a:lnTo>
                  <a:lnTo>
                    <a:pt x="7550150" y="6172200"/>
                  </a:lnTo>
                  <a:close/>
                </a:path>
              </a:pathLst>
            </a:custGeom>
            <a:blipFill>
              <a:blip r:embed="rId3">
                <a:alphaModFix amt="31000"/>
              </a:blip>
              <a:stretch>
                <a:fillRect l="0" t="-19" r="0" b="-19"/>
              </a:stretch>
            </a:blipFill>
          </p:spPr>
        </p:sp>
      </p:grpSp>
      <p:sp>
        <p:nvSpPr>
          <p:cNvPr name="TextBox 6" id="6"/>
          <p:cNvSpPr txBox="true"/>
          <p:nvPr/>
        </p:nvSpPr>
        <p:spPr>
          <a:xfrm rot="0">
            <a:off x="0" y="1008442"/>
            <a:ext cx="16799687" cy="1200474"/>
          </a:xfrm>
          <a:prstGeom prst="rect">
            <a:avLst/>
          </a:prstGeom>
        </p:spPr>
        <p:txBody>
          <a:bodyPr anchor="t" rtlCol="false" tIns="0" lIns="0" bIns="0" rIns="0">
            <a:spAutoFit/>
          </a:bodyPr>
          <a:lstStyle/>
          <a:p>
            <a:pPr algn="ctr">
              <a:lnSpc>
                <a:spcPts val="8930"/>
              </a:lnSpc>
            </a:pPr>
            <a:r>
              <a:rPr lang="en-US" sz="6378">
                <a:solidFill>
                  <a:srgbClr val="000000"/>
                </a:solidFill>
                <a:latin typeface="Paytone One"/>
                <a:ea typeface="Paytone One"/>
                <a:cs typeface="Paytone One"/>
                <a:sym typeface="Paytone One"/>
              </a:rPr>
              <a:t>Phần 2: Phân tích yêu cầu &amp; Phạm vi</a:t>
            </a:r>
          </a:p>
        </p:txBody>
      </p:sp>
      <p:sp>
        <p:nvSpPr>
          <p:cNvPr name="TextBox 7" id="7"/>
          <p:cNvSpPr txBox="true"/>
          <p:nvPr/>
        </p:nvSpPr>
        <p:spPr>
          <a:xfrm rot="0">
            <a:off x="1040907" y="3777805"/>
            <a:ext cx="7711072" cy="4205170"/>
          </a:xfrm>
          <a:prstGeom prst="rect">
            <a:avLst/>
          </a:prstGeom>
        </p:spPr>
        <p:txBody>
          <a:bodyPr anchor="t" rtlCol="false" tIns="0" lIns="0" bIns="0" rIns="0">
            <a:spAutoFit/>
          </a:bodyPr>
          <a:lstStyle/>
          <a:p>
            <a:pPr algn="l" marL="525465" indent="-175155" lvl="2">
              <a:lnSpc>
                <a:spcPts val="3035"/>
              </a:lnSpc>
              <a:buFont typeface="Arial"/>
              <a:buChar char="⚬"/>
            </a:pPr>
            <a:r>
              <a:rPr lang="en-US" sz="3035">
                <a:solidFill>
                  <a:srgbClr val="000000"/>
                </a:solidFill>
                <a:latin typeface="Montserrat"/>
                <a:ea typeface="Montserrat"/>
                <a:cs typeface="Montserrat"/>
                <a:sym typeface="Montserrat"/>
              </a:rPr>
              <a:t>Elements: Test luồng nhập liệu của Text Box, Check Box, Radio Button, Web Tables, Buttons, Upload/Download, Links.</a:t>
            </a:r>
          </a:p>
          <a:p>
            <a:pPr algn="l" marL="525465" indent="-175155" lvl="2">
              <a:lnSpc>
                <a:spcPts val="3035"/>
              </a:lnSpc>
              <a:buFont typeface="Arial"/>
              <a:buChar char="⚬"/>
            </a:pPr>
            <a:r>
              <a:rPr lang="en-US" sz="3035">
                <a:solidFill>
                  <a:srgbClr val="000000"/>
                </a:solidFill>
                <a:latin typeface="Montserrat"/>
                <a:ea typeface="Montserrat"/>
                <a:cs typeface="Montserrat"/>
                <a:sym typeface="Montserrat"/>
              </a:rPr>
              <a:t>Alerts &amp; Frames: Xử lý các Pop-up, cảnh báo và iFrame.</a:t>
            </a:r>
          </a:p>
          <a:p>
            <a:pPr algn="l" marL="525465" indent="-175155" lvl="2">
              <a:lnSpc>
                <a:spcPts val="3035"/>
              </a:lnSpc>
              <a:buFont typeface="Arial"/>
              <a:buChar char="⚬"/>
            </a:pPr>
            <a:r>
              <a:rPr lang="en-US" sz="3035">
                <a:solidFill>
                  <a:srgbClr val="000000"/>
                </a:solidFill>
                <a:latin typeface="Montserrat"/>
                <a:ea typeface="Montserrat"/>
                <a:cs typeface="Montserrat"/>
                <a:sym typeface="Montserrat"/>
              </a:rPr>
              <a:t>Widgets &amp; Interactions: Các tác vụ tương tác UI nâng cao (Kéo thả, Click &amp; Giữ...).</a:t>
            </a:r>
          </a:p>
          <a:p>
            <a:pPr algn="l" marL="525465" indent="-175155" lvl="2">
              <a:lnSpc>
                <a:spcPts val="3035"/>
              </a:lnSpc>
              <a:buFont typeface="Arial"/>
              <a:buChar char="⚬"/>
            </a:pPr>
            <a:r>
              <a:rPr lang="en-US" sz="3035">
                <a:solidFill>
                  <a:srgbClr val="000000"/>
                </a:solidFill>
                <a:latin typeface="Montserrat"/>
                <a:ea typeface="Montserrat"/>
                <a:cs typeface="Montserrat"/>
                <a:sym typeface="Montserrat"/>
              </a:rPr>
              <a:t>API: Các chức năng Fetch, Post (thông qua end-point ReqRes.in).</a:t>
            </a:r>
          </a:p>
        </p:txBody>
      </p:sp>
      <p:sp>
        <p:nvSpPr>
          <p:cNvPr name="TextBox 8" id="8"/>
          <p:cNvSpPr txBox="true"/>
          <p:nvPr/>
        </p:nvSpPr>
        <p:spPr>
          <a:xfrm rot="0">
            <a:off x="9252505" y="3777805"/>
            <a:ext cx="8690963" cy="3048607"/>
          </a:xfrm>
          <a:prstGeom prst="rect">
            <a:avLst/>
          </a:prstGeom>
        </p:spPr>
        <p:txBody>
          <a:bodyPr anchor="t" rtlCol="false" tIns="0" lIns="0" bIns="0" rIns="0">
            <a:spAutoFit/>
          </a:bodyPr>
          <a:lstStyle/>
          <a:p>
            <a:pPr algn="l" marL="525465" indent="-175155" lvl="2">
              <a:lnSpc>
                <a:spcPts val="3035"/>
              </a:lnSpc>
              <a:buFont typeface="Arial"/>
              <a:buChar char="⚬"/>
            </a:pPr>
            <a:r>
              <a:rPr lang="en-US" sz="3035">
                <a:solidFill>
                  <a:srgbClr val="000000"/>
                </a:solidFill>
                <a:latin typeface="Montserrat"/>
                <a:ea typeface="Montserrat"/>
                <a:cs typeface="Montserrat"/>
                <a:sym typeface="Montserrat"/>
              </a:rPr>
              <a:t>In-scope (Có test): Functional Testing, UI/Visual Testing, API Testing, Accessibility Testing trên nhiều trình duyệt (Chrome, Firefox, Safari, Edge).</a:t>
            </a:r>
          </a:p>
          <a:p>
            <a:pPr algn="l" marL="525465" indent="-175155" lvl="2">
              <a:lnSpc>
                <a:spcPts val="3035"/>
              </a:lnSpc>
              <a:buFont typeface="Arial"/>
              <a:buChar char="⚬"/>
            </a:pPr>
            <a:r>
              <a:rPr lang="en-US" sz="3035">
                <a:solidFill>
                  <a:srgbClr val="000000"/>
                </a:solidFill>
                <a:latin typeface="Montserrat"/>
                <a:ea typeface="Montserrat"/>
                <a:cs typeface="Montserrat"/>
                <a:sym typeface="Montserrat"/>
              </a:rPr>
              <a:t>Out-of-scope (Không test): Performance Testing (Load/Stress), Security/Penetration Testing mức chuyên sâu.</a:t>
            </a:r>
          </a:p>
        </p:txBody>
      </p:sp>
      <p:sp>
        <p:nvSpPr>
          <p:cNvPr name="TextBox 9" id="9"/>
          <p:cNvSpPr txBox="true"/>
          <p:nvPr/>
        </p:nvSpPr>
        <p:spPr>
          <a:xfrm rot="0">
            <a:off x="1040907" y="3068566"/>
            <a:ext cx="3736898" cy="349960"/>
          </a:xfrm>
          <a:prstGeom prst="rect">
            <a:avLst/>
          </a:prstGeom>
        </p:spPr>
        <p:txBody>
          <a:bodyPr anchor="t" rtlCol="false" tIns="0" lIns="0" bIns="0" rIns="0">
            <a:spAutoFit/>
          </a:bodyPr>
          <a:lstStyle/>
          <a:p>
            <a:pPr algn="just">
              <a:lnSpc>
                <a:spcPts val="3035"/>
              </a:lnSpc>
            </a:pPr>
            <a:r>
              <a:rPr lang="en-US" sz="3035" b="true">
                <a:solidFill>
                  <a:srgbClr val="000000"/>
                </a:solidFill>
                <a:latin typeface="Montserrat Bold"/>
                <a:ea typeface="Montserrat Bold"/>
                <a:cs typeface="Montserrat Bold"/>
                <a:sym typeface="Montserrat Bold"/>
              </a:rPr>
              <a:t>Feature List chính:</a:t>
            </a:r>
          </a:p>
        </p:txBody>
      </p:sp>
      <p:sp>
        <p:nvSpPr>
          <p:cNvPr name="TextBox 10" id="10"/>
          <p:cNvSpPr txBox="true"/>
          <p:nvPr/>
        </p:nvSpPr>
        <p:spPr>
          <a:xfrm rot="0">
            <a:off x="9252505" y="3068566"/>
            <a:ext cx="3365239" cy="349960"/>
          </a:xfrm>
          <a:prstGeom prst="rect">
            <a:avLst/>
          </a:prstGeom>
        </p:spPr>
        <p:txBody>
          <a:bodyPr anchor="t" rtlCol="false" tIns="0" lIns="0" bIns="0" rIns="0">
            <a:spAutoFit/>
          </a:bodyPr>
          <a:lstStyle/>
          <a:p>
            <a:pPr algn="just">
              <a:lnSpc>
                <a:spcPts val="3035"/>
              </a:lnSpc>
            </a:pPr>
            <a:r>
              <a:rPr lang="en-US" sz="3035" b="true">
                <a:solidFill>
                  <a:srgbClr val="000000"/>
                </a:solidFill>
                <a:latin typeface="Montserrat Bold"/>
                <a:ea typeface="Montserrat Bold"/>
                <a:cs typeface="Montserrat Bold"/>
                <a:sym typeface="Montserrat Bold"/>
              </a:rPr>
              <a:t>Phạm vi (Scope):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650060" cy="10490659"/>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grpSp>
        <p:nvGrpSpPr>
          <p:cNvPr name="Group 4" id="4"/>
          <p:cNvGrpSpPr/>
          <p:nvPr/>
        </p:nvGrpSpPr>
        <p:grpSpPr>
          <a:xfrm rot="0">
            <a:off x="12467945" y="5383185"/>
            <a:ext cx="10266081" cy="8392527"/>
            <a:chOff x="0" y="0"/>
            <a:chExt cx="7550086" cy="6172200"/>
          </a:xfrm>
        </p:grpSpPr>
        <p:sp>
          <p:nvSpPr>
            <p:cNvPr name="Freeform 5" id="5"/>
            <p:cNvSpPr/>
            <p:nvPr/>
          </p:nvSpPr>
          <p:spPr>
            <a:xfrm flipH="true" flipV="true" rot="0">
              <a:off x="0" y="0"/>
              <a:ext cx="7550150" cy="6172200"/>
            </a:xfrm>
            <a:custGeom>
              <a:avLst/>
              <a:gdLst/>
              <a:ahLst/>
              <a:cxnLst/>
              <a:rect r="r" b="b" t="t" l="l"/>
              <a:pathLst>
                <a:path h="6172200" w="7550150">
                  <a:moveTo>
                    <a:pt x="7550150" y="6172200"/>
                  </a:moveTo>
                  <a:lnTo>
                    <a:pt x="0" y="6172200"/>
                  </a:lnTo>
                  <a:lnTo>
                    <a:pt x="0" y="0"/>
                  </a:lnTo>
                  <a:lnTo>
                    <a:pt x="7550150" y="0"/>
                  </a:lnTo>
                  <a:lnTo>
                    <a:pt x="7550150" y="6172200"/>
                  </a:lnTo>
                  <a:close/>
                </a:path>
              </a:pathLst>
            </a:custGeom>
            <a:blipFill>
              <a:blip r:embed="rId3">
                <a:alphaModFix amt="31000"/>
              </a:blip>
              <a:stretch>
                <a:fillRect l="0" t="-19" r="0" b="-19"/>
              </a:stretch>
            </a:blipFill>
          </p:spPr>
        </p:sp>
      </p:grpSp>
      <p:sp>
        <p:nvSpPr>
          <p:cNvPr name="TextBox 6" id="6"/>
          <p:cNvSpPr txBox="true"/>
          <p:nvPr/>
        </p:nvSpPr>
        <p:spPr>
          <a:xfrm rot="0">
            <a:off x="1049066" y="1017317"/>
            <a:ext cx="12116098" cy="1208913"/>
          </a:xfrm>
          <a:prstGeom prst="rect">
            <a:avLst/>
          </a:prstGeom>
        </p:spPr>
        <p:txBody>
          <a:bodyPr anchor="t" rtlCol="false" tIns="0" lIns="0" bIns="0" rIns="0">
            <a:spAutoFit/>
          </a:bodyPr>
          <a:lstStyle/>
          <a:p>
            <a:pPr algn="just">
              <a:lnSpc>
                <a:spcPts val="9000"/>
              </a:lnSpc>
            </a:pPr>
            <a:r>
              <a:rPr lang="en-US" sz="6428">
                <a:solidFill>
                  <a:srgbClr val="000000"/>
                </a:solidFill>
                <a:latin typeface="Paytone One"/>
                <a:ea typeface="Paytone One"/>
                <a:cs typeface="Paytone One"/>
                <a:sym typeface="Paytone One"/>
              </a:rPr>
              <a:t>Phần 3: Kế hoạch kiểm thử</a:t>
            </a:r>
          </a:p>
        </p:txBody>
      </p:sp>
      <p:sp>
        <p:nvSpPr>
          <p:cNvPr name="TextBox 7" id="7"/>
          <p:cNvSpPr txBox="true"/>
          <p:nvPr/>
        </p:nvSpPr>
        <p:spPr>
          <a:xfrm rot="0">
            <a:off x="1049066" y="3536647"/>
            <a:ext cx="7750948" cy="2295866"/>
          </a:xfrm>
          <a:prstGeom prst="rect">
            <a:avLst/>
          </a:prstGeom>
        </p:spPr>
        <p:txBody>
          <a:bodyPr anchor="t" rtlCol="false" tIns="0" lIns="0" bIns="0" rIns="0">
            <a:spAutoFit/>
          </a:bodyPr>
          <a:lstStyle/>
          <a:p>
            <a:pPr algn="just" marL="529584" indent="-176528" lvl="2">
              <a:lnSpc>
                <a:spcPts val="3059"/>
              </a:lnSpc>
              <a:buFont typeface="Arial"/>
              <a:buChar char="⚬"/>
            </a:pPr>
            <a:r>
              <a:rPr lang="en-US" sz="3059">
                <a:solidFill>
                  <a:srgbClr val="000000"/>
                </a:solidFill>
                <a:latin typeface="Montserrat"/>
                <a:ea typeface="Montserrat"/>
                <a:cs typeface="Montserrat"/>
                <a:sym typeface="Montserrat"/>
              </a:rPr>
              <a:t>Kịch bản Functional &amp; UI: Chạy tự động hồi quy (Regression test).</a:t>
            </a:r>
          </a:p>
          <a:p>
            <a:pPr algn="just" marL="529584" indent="-176528" lvl="2">
              <a:lnSpc>
                <a:spcPts val="3059"/>
              </a:lnSpc>
              <a:buFont typeface="Arial"/>
              <a:buChar char="⚬"/>
            </a:pPr>
            <a:r>
              <a:rPr lang="en-US" sz="3059">
                <a:solidFill>
                  <a:srgbClr val="000000"/>
                </a:solidFill>
                <a:latin typeface="Montserrat"/>
                <a:ea typeface="Montserrat"/>
                <a:cs typeface="Montserrat"/>
                <a:sym typeface="Montserrat"/>
              </a:rPr>
              <a:t>Kịch bản API &amp; Visual Comparison: Tích hợp chạy song song.</a:t>
            </a:r>
          </a:p>
          <a:p>
            <a:pPr algn="just" marL="529584" indent="-176528" lvl="2">
              <a:lnSpc>
                <a:spcPts val="3059"/>
              </a:lnSpc>
              <a:buFont typeface="Arial"/>
              <a:buChar char="⚬"/>
            </a:pPr>
            <a:r>
              <a:rPr lang="en-US" sz="3059">
                <a:solidFill>
                  <a:srgbClr val="000000"/>
                </a:solidFill>
                <a:latin typeface="Montserrat"/>
                <a:ea typeface="Montserrat"/>
                <a:cs typeface="Montserrat"/>
                <a:sym typeface="Montserrat"/>
              </a:rPr>
              <a:t>Kịch bản Accessibility: Tích hợp công cụ Axe-core.</a:t>
            </a:r>
          </a:p>
        </p:txBody>
      </p:sp>
      <p:sp>
        <p:nvSpPr>
          <p:cNvPr name="TextBox 8" id="8"/>
          <p:cNvSpPr txBox="true"/>
          <p:nvPr/>
        </p:nvSpPr>
        <p:spPr>
          <a:xfrm rot="0">
            <a:off x="9325030" y="3536647"/>
            <a:ext cx="8915092" cy="1907323"/>
          </a:xfrm>
          <a:prstGeom prst="rect">
            <a:avLst/>
          </a:prstGeom>
        </p:spPr>
        <p:txBody>
          <a:bodyPr anchor="t" rtlCol="false" tIns="0" lIns="0" bIns="0" rIns="0">
            <a:spAutoFit/>
          </a:bodyPr>
          <a:lstStyle/>
          <a:p>
            <a:pPr algn="l" marL="529584" indent="-176528" lvl="2">
              <a:lnSpc>
                <a:spcPts val="3059"/>
              </a:lnSpc>
              <a:buFont typeface="Arial"/>
              <a:buChar char="⚬"/>
            </a:pPr>
            <a:r>
              <a:rPr lang="en-US" sz="3059">
                <a:solidFill>
                  <a:srgbClr val="000000"/>
                </a:solidFill>
                <a:latin typeface="Montserrat"/>
                <a:ea typeface="Montserrat"/>
                <a:cs typeface="Montserrat"/>
                <a:sym typeface="Montserrat"/>
              </a:rPr>
              <a:t>Công cụ/Framework: Java, Selenium WebDriver, TestNG, Maven, Report.</a:t>
            </a:r>
          </a:p>
          <a:p>
            <a:pPr algn="l" marL="529584" indent="-176528" lvl="2">
              <a:lnSpc>
                <a:spcPts val="3059"/>
              </a:lnSpc>
              <a:buFont typeface="Arial"/>
              <a:buChar char="⚬"/>
            </a:pPr>
            <a:r>
              <a:rPr lang="en-US" sz="3059">
                <a:solidFill>
                  <a:srgbClr val="000000"/>
                </a:solidFill>
                <a:latin typeface="Montserrat"/>
                <a:ea typeface="Montserrat"/>
                <a:cs typeface="Montserrat"/>
                <a:sym typeface="Montserrat"/>
              </a:rPr>
              <a:t>Trình duyệt: Chromium, Firefox, WebKit, MS Edge.</a:t>
            </a:r>
          </a:p>
          <a:p>
            <a:pPr algn="l" marL="529584" indent="-176528" lvl="2">
              <a:lnSpc>
                <a:spcPts val="3059"/>
              </a:lnSpc>
              <a:buFont typeface="Arial"/>
              <a:buChar char="⚬"/>
            </a:pPr>
            <a:r>
              <a:rPr lang="en-US" sz="3059">
                <a:solidFill>
                  <a:srgbClr val="000000"/>
                </a:solidFill>
                <a:latin typeface="Montserrat"/>
                <a:ea typeface="Montserrat"/>
                <a:cs typeface="Montserrat"/>
                <a:sym typeface="Montserrat"/>
              </a:rPr>
              <a:t>Hệ điều hành: Window.</a:t>
            </a:r>
          </a:p>
        </p:txBody>
      </p:sp>
      <p:sp>
        <p:nvSpPr>
          <p:cNvPr name="TextBox 9" id="9"/>
          <p:cNvSpPr txBox="true"/>
          <p:nvPr/>
        </p:nvSpPr>
        <p:spPr>
          <a:xfrm rot="0">
            <a:off x="1049066" y="7257179"/>
            <a:ext cx="14507640" cy="1907323"/>
          </a:xfrm>
          <a:prstGeom prst="rect">
            <a:avLst/>
          </a:prstGeom>
        </p:spPr>
        <p:txBody>
          <a:bodyPr anchor="t" rtlCol="false" tIns="0" lIns="0" bIns="0" rIns="0">
            <a:spAutoFit/>
          </a:bodyPr>
          <a:lstStyle/>
          <a:p>
            <a:pPr algn="l" marL="529584" indent="-176528" lvl="2">
              <a:lnSpc>
                <a:spcPts val="3059"/>
              </a:lnSpc>
              <a:buFont typeface="Arial"/>
              <a:buChar char="⚬"/>
            </a:pPr>
            <a:r>
              <a:rPr lang="en-US" sz="3059">
                <a:solidFill>
                  <a:srgbClr val="000000"/>
                </a:solidFill>
                <a:latin typeface="Montserrat"/>
                <a:ea typeface="Montserrat"/>
                <a:cs typeface="Montserrat"/>
                <a:sym typeface="Montserrat"/>
              </a:rPr>
              <a:t>Thực thi đạt ít nhất 90% số lượng Test Case đã lên kế hoạch.</a:t>
            </a:r>
          </a:p>
          <a:p>
            <a:pPr algn="l" marL="529584" indent="-176528" lvl="2">
              <a:lnSpc>
                <a:spcPts val="3059"/>
              </a:lnSpc>
              <a:buFont typeface="Arial"/>
              <a:buChar char="⚬"/>
            </a:pPr>
            <a:r>
              <a:rPr lang="en-US" sz="3059">
                <a:solidFill>
                  <a:srgbClr val="000000"/>
                </a:solidFill>
                <a:latin typeface="Montserrat"/>
                <a:ea typeface="Montserrat"/>
                <a:cs typeface="Montserrat"/>
                <a:sym typeface="Montserrat"/>
              </a:rPr>
              <a:t>100% bugs mức độ Critical / Blocker được xử lý và nghiệm thu thành công. Số bugs Major tồn đọng ở mức chấp nhận được (&lt; 5%).</a:t>
            </a:r>
          </a:p>
          <a:p>
            <a:pPr algn="l" marL="529584" indent="-176528" lvl="2">
              <a:lnSpc>
                <a:spcPts val="3059"/>
              </a:lnSpc>
              <a:buFont typeface="Arial"/>
              <a:buChar char="⚬"/>
            </a:pPr>
            <a:r>
              <a:rPr lang="en-US" sz="3059">
                <a:solidFill>
                  <a:srgbClr val="000000"/>
                </a:solidFill>
                <a:latin typeface="Montserrat"/>
                <a:ea typeface="Montserrat"/>
                <a:cs typeface="Montserrat"/>
                <a:sym typeface="Montserrat"/>
              </a:rPr>
              <a:t>Pass Rate (Tỷ lệ test tự động chạy thành công) đạt ngưỡng ổn định từ 85 - 90% trở lên.</a:t>
            </a:r>
          </a:p>
        </p:txBody>
      </p:sp>
      <p:sp>
        <p:nvSpPr>
          <p:cNvPr name="TextBox 10" id="10"/>
          <p:cNvSpPr txBox="true"/>
          <p:nvPr/>
        </p:nvSpPr>
        <p:spPr>
          <a:xfrm rot="0">
            <a:off x="1049066" y="2923820"/>
            <a:ext cx="3210573" cy="353151"/>
          </a:xfrm>
          <a:prstGeom prst="rect">
            <a:avLst/>
          </a:prstGeom>
        </p:spPr>
        <p:txBody>
          <a:bodyPr anchor="t" rtlCol="false" tIns="0" lIns="0" bIns="0" rIns="0">
            <a:spAutoFit/>
          </a:bodyPr>
          <a:lstStyle/>
          <a:p>
            <a:pPr algn="ctr">
              <a:lnSpc>
                <a:spcPts val="3059"/>
              </a:lnSpc>
            </a:pPr>
            <a:r>
              <a:rPr lang="en-US" sz="3059" b="true">
                <a:solidFill>
                  <a:srgbClr val="000000"/>
                </a:solidFill>
                <a:latin typeface="Montserrat Bold"/>
                <a:ea typeface="Montserrat Bold"/>
                <a:cs typeface="Montserrat Bold"/>
                <a:sym typeface="Montserrat Bold"/>
              </a:rPr>
              <a:t>Chiến lược Test:</a:t>
            </a:r>
          </a:p>
        </p:txBody>
      </p:sp>
      <p:sp>
        <p:nvSpPr>
          <p:cNvPr name="TextBox 11" id="11"/>
          <p:cNvSpPr txBox="true"/>
          <p:nvPr/>
        </p:nvSpPr>
        <p:spPr>
          <a:xfrm rot="0">
            <a:off x="11988863" y="2923820"/>
            <a:ext cx="2352619" cy="353151"/>
          </a:xfrm>
          <a:prstGeom prst="rect">
            <a:avLst/>
          </a:prstGeom>
        </p:spPr>
        <p:txBody>
          <a:bodyPr anchor="t" rtlCol="false" tIns="0" lIns="0" bIns="0" rIns="0">
            <a:spAutoFit/>
          </a:bodyPr>
          <a:lstStyle/>
          <a:p>
            <a:pPr algn="ctr">
              <a:lnSpc>
                <a:spcPts val="3059"/>
              </a:lnSpc>
            </a:pPr>
            <a:r>
              <a:rPr lang="en-US" sz="3059" b="true">
                <a:solidFill>
                  <a:srgbClr val="000000"/>
                </a:solidFill>
                <a:latin typeface="Montserrat Bold"/>
                <a:ea typeface="Montserrat Bold"/>
                <a:cs typeface="Montserrat Bold"/>
                <a:sym typeface="Montserrat Bold"/>
              </a:rPr>
              <a:t>Môi trường:</a:t>
            </a:r>
          </a:p>
        </p:txBody>
      </p:sp>
      <p:sp>
        <p:nvSpPr>
          <p:cNvPr name="TextBox 12" id="12"/>
          <p:cNvSpPr txBox="true"/>
          <p:nvPr/>
        </p:nvSpPr>
        <p:spPr>
          <a:xfrm rot="0">
            <a:off x="1049066" y="6645232"/>
            <a:ext cx="6924681" cy="353151"/>
          </a:xfrm>
          <a:prstGeom prst="rect">
            <a:avLst/>
          </a:prstGeom>
        </p:spPr>
        <p:txBody>
          <a:bodyPr anchor="t" rtlCol="false" tIns="0" lIns="0" bIns="0" rIns="0">
            <a:spAutoFit/>
          </a:bodyPr>
          <a:lstStyle/>
          <a:p>
            <a:pPr algn="ctr">
              <a:lnSpc>
                <a:spcPts val="3059"/>
              </a:lnSpc>
            </a:pPr>
            <a:r>
              <a:rPr lang="en-US" sz="3059" b="true">
                <a:solidFill>
                  <a:srgbClr val="000000"/>
                </a:solidFill>
                <a:latin typeface="Montserrat Bold"/>
                <a:ea typeface="Montserrat Bold"/>
                <a:cs typeface="Montserrat Bold"/>
                <a:sym typeface="Montserrat Bold"/>
              </a:rPr>
              <a:t>Tiêu chí hoàn thành (Exit Criteria):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529967" cy="10423106"/>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grpSp>
        <p:nvGrpSpPr>
          <p:cNvPr name="Group 4" id="4"/>
          <p:cNvGrpSpPr/>
          <p:nvPr/>
        </p:nvGrpSpPr>
        <p:grpSpPr>
          <a:xfrm rot="0">
            <a:off x="12387660" y="5348521"/>
            <a:ext cx="10199975" cy="8338485"/>
            <a:chOff x="0" y="0"/>
            <a:chExt cx="7550086" cy="6172200"/>
          </a:xfrm>
        </p:grpSpPr>
        <p:sp>
          <p:nvSpPr>
            <p:cNvPr name="Freeform 5" id="5"/>
            <p:cNvSpPr/>
            <p:nvPr/>
          </p:nvSpPr>
          <p:spPr>
            <a:xfrm flipH="true" flipV="true" rot="0">
              <a:off x="0" y="0"/>
              <a:ext cx="7550150" cy="6172200"/>
            </a:xfrm>
            <a:custGeom>
              <a:avLst/>
              <a:gdLst/>
              <a:ahLst/>
              <a:cxnLst/>
              <a:rect r="r" b="b" t="t" l="l"/>
              <a:pathLst>
                <a:path h="6172200" w="7550150">
                  <a:moveTo>
                    <a:pt x="7550150" y="6172200"/>
                  </a:moveTo>
                  <a:lnTo>
                    <a:pt x="0" y="6172200"/>
                  </a:lnTo>
                  <a:lnTo>
                    <a:pt x="0" y="0"/>
                  </a:lnTo>
                  <a:lnTo>
                    <a:pt x="7550150" y="0"/>
                  </a:lnTo>
                  <a:lnTo>
                    <a:pt x="7550150" y="6172200"/>
                  </a:lnTo>
                  <a:close/>
                </a:path>
              </a:pathLst>
            </a:custGeom>
            <a:blipFill>
              <a:blip r:embed="rId3">
                <a:alphaModFix amt="31000"/>
              </a:blip>
              <a:stretch>
                <a:fillRect l="0" t="-19" r="0" b="-19"/>
              </a:stretch>
            </a:blipFill>
          </p:spPr>
        </p:sp>
      </p:grpSp>
      <p:grpSp>
        <p:nvGrpSpPr>
          <p:cNvPr name="Group 6" id="6"/>
          <p:cNvGrpSpPr/>
          <p:nvPr/>
        </p:nvGrpSpPr>
        <p:grpSpPr>
          <a:xfrm rot="0">
            <a:off x="1042311" y="8282415"/>
            <a:ext cx="8222673" cy="1159324"/>
            <a:chOff x="0" y="0"/>
            <a:chExt cx="6086475" cy="858139"/>
          </a:xfrm>
        </p:grpSpPr>
        <p:sp>
          <p:nvSpPr>
            <p:cNvPr name="Freeform 7" id="7"/>
            <p:cNvSpPr/>
            <p:nvPr/>
          </p:nvSpPr>
          <p:spPr>
            <a:xfrm flipH="false" flipV="false" rot="0">
              <a:off x="0" y="0"/>
              <a:ext cx="6086475" cy="858139"/>
            </a:xfrm>
            <a:custGeom>
              <a:avLst/>
              <a:gdLst/>
              <a:ahLst/>
              <a:cxnLst/>
              <a:rect r="r" b="b" t="t" l="l"/>
              <a:pathLst>
                <a:path h="858139" w="6086475">
                  <a:moveTo>
                    <a:pt x="0" y="0"/>
                  </a:moveTo>
                  <a:lnTo>
                    <a:pt x="6086475" y="0"/>
                  </a:lnTo>
                  <a:lnTo>
                    <a:pt x="6086475" y="858139"/>
                  </a:lnTo>
                  <a:lnTo>
                    <a:pt x="0" y="858139"/>
                  </a:lnTo>
                  <a:lnTo>
                    <a:pt x="0" y="0"/>
                  </a:lnTo>
                  <a:close/>
                </a:path>
              </a:pathLst>
            </a:custGeom>
            <a:blipFill>
              <a:blip r:embed="rId4"/>
              <a:stretch>
                <a:fillRect l="0" t="-25" r="0" b="-25"/>
              </a:stretch>
            </a:blipFill>
          </p:spPr>
        </p:sp>
      </p:grpSp>
      <p:grpSp>
        <p:nvGrpSpPr>
          <p:cNvPr name="Group 8" id="8"/>
          <p:cNvGrpSpPr/>
          <p:nvPr/>
        </p:nvGrpSpPr>
        <p:grpSpPr>
          <a:xfrm rot="0">
            <a:off x="1042311" y="4820743"/>
            <a:ext cx="8222673" cy="1554578"/>
            <a:chOff x="0" y="0"/>
            <a:chExt cx="6086475" cy="1150709"/>
          </a:xfrm>
        </p:grpSpPr>
        <p:sp>
          <p:nvSpPr>
            <p:cNvPr name="Freeform 9" id="9"/>
            <p:cNvSpPr/>
            <p:nvPr/>
          </p:nvSpPr>
          <p:spPr>
            <a:xfrm flipH="false" flipV="false" rot="0">
              <a:off x="0" y="0"/>
              <a:ext cx="6086475" cy="1150747"/>
            </a:xfrm>
            <a:custGeom>
              <a:avLst/>
              <a:gdLst/>
              <a:ahLst/>
              <a:cxnLst/>
              <a:rect r="r" b="b" t="t" l="l"/>
              <a:pathLst>
                <a:path h="1150747" w="6086475">
                  <a:moveTo>
                    <a:pt x="0" y="0"/>
                  </a:moveTo>
                  <a:lnTo>
                    <a:pt x="6086475" y="0"/>
                  </a:lnTo>
                  <a:lnTo>
                    <a:pt x="6086475" y="1150747"/>
                  </a:lnTo>
                  <a:lnTo>
                    <a:pt x="0" y="1150747"/>
                  </a:lnTo>
                  <a:lnTo>
                    <a:pt x="0" y="0"/>
                  </a:lnTo>
                  <a:close/>
                </a:path>
              </a:pathLst>
            </a:custGeom>
            <a:blipFill>
              <a:blip r:embed="rId5"/>
              <a:stretch>
                <a:fillRect l="0" t="0" r="0" b="3"/>
              </a:stretch>
            </a:blipFill>
          </p:spPr>
        </p:sp>
      </p:grpSp>
      <p:grpSp>
        <p:nvGrpSpPr>
          <p:cNvPr name="Group 10" id="10"/>
          <p:cNvGrpSpPr/>
          <p:nvPr/>
        </p:nvGrpSpPr>
        <p:grpSpPr>
          <a:xfrm rot="0">
            <a:off x="9674084" y="4820743"/>
            <a:ext cx="8183794" cy="1534470"/>
            <a:chOff x="0" y="0"/>
            <a:chExt cx="6057697" cy="1135824"/>
          </a:xfrm>
        </p:grpSpPr>
        <p:sp>
          <p:nvSpPr>
            <p:cNvPr name="Freeform 11" id="11"/>
            <p:cNvSpPr/>
            <p:nvPr/>
          </p:nvSpPr>
          <p:spPr>
            <a:xfrm flipH="false" flipV="false" rot="0">
              <a:off x="0" y="0"/>
              <a:ext cx="6057646" cy="1135761"/>
            </a:xfrm>
            <a:custGeom>
              <a:avLst/>
              <a:gdLst/>
              <a:ahLst/>
              <a:cxnLst/>
              <a:rect r="r" b="b" t="t" l="l"/>
              <a:pathLst>
                <a:path h="1135761" w="6057646">
                  <a:moveTo>
                    <a:pt x="0" y="0"/>
                  </a:moveTo>
                  <a:lnTo>
                    <a:pt x="6057646" y="0"/>
                  </a:lnTo>
                  <a:lnTo>
                    <a:pt x="6057646" y="1135761"/>
                  </a:lnTo>
                  <a:lnTo>
                    <a:pt x="0" y="1135761"/>
                  </a:lnTo>
                  <a:lnTo>
                    <a:pt x="0" y="0"/>
                  </a:lnTo>
                  <a:close/>
                </a:path>
              </a:pathLst>
            </a:custGeom>
            <a:blipFill>
              <a:blip r:embed="rId6"/>
              <a:stretch>
                <a:fillRect l="0" t="-116" r="0" b="-120"/>
              </a:stretch>
            </a:blipFill>
          </p:spPr>
        </p:sp>
      </p:grpSp>
      <p:sp>
        <p:nvSpPr>
          <p:cNvPr name="TextBox 12" id="12"/>
          <p:cNvSpPr txBox="true"/>
          <p:nvPr/>
        </p:nvSpPr>
        <p:spPr>
          <a:xfrm rot="0">
            <a:off x="293563" y="1001241"/>
            <a:ext cx="18529967" cy="1058708"/>
          </a:xfrm>
          <a:prstGeom prst="rect">
            <a:avLst/>
          </a:prstGeom>
        </p:spPr>
        <p:txBody>
          <a:bodyPr anchor="t" rtlCol="false" tIns="0" lIns="0" bIns="0" rIns="0">
            <a:spAutoFit/>
          </a:bodyPr>
          <a:lstStyle/>
          <a:p>
            <a:pPr algn="just">
              <a:lnSpc>
                <a:spcPts val="7806"/>
              </a:lnSpc>
            </a:pPr>
            <a:r>
              <a:rPr lang="en-US" sz="5576">
                <a:solidFill>
                  <a:srgbClr val="000000"/>
                </a:solidFill>
                <a:latin typeface="Paytone One"/>
                <a:ea typeface="Paytone One"/>
                <a:cs typeface="Paytone One"/>
                <a:sym typeface="Paytone One"/>
              </a:rPr>
              <a:t>Phần 4: Kỹ thuật Kiểm thử &amp; Kết quả Thực tế </a:t>
            </a:r>
          </a:p>
        </p:txBody>
      </p:sp>
      <p:sp>
        <p:nvSpPr>
          <p:cNvPr name="TextBox 13" id="13"/>
          <p:cNvSpPr txBox="true"/>
          <p:nvPr/>
        </p:nvSpPr>
        <p:spPr>
          <a:xfrm rot="0">
            <a:off x="1042311" y="3614452"/>
            <a:ext cx="8222673" cy="1091713"/>
          </a:xfrm>
          <a:prstGeom prst="rect">
            <a:avLst/>
          </a:prstGeom>
        </p:spPr>
        <p:txBody>
          <a:bodyPr anchor="t" rtlCol="false" tIns="0" lIns="0" bIns="0" rIns="0">
            <a:spAutoFit/>
          </a:bodyPr>
          <a:lstStyle/>
          <a:p>
            <a:pPr algn="just">
              <a:lnSpc>
                <a:spcPts val="2228"/>
              </a:lnSpc>
            </a:pPr>
            <a:r>
              <a:rPr lang="en-US" sz="2228" b="true">
                <a:solidFill>
                  <a:srgbClr val="000000"/>
                </a:solidFill>
                <a:latin typeface="Montserrat Bold"/>
                <a:ea typeface="Montserrat Bold"/>
                <a:cs typeface="Montserrat Bold"/>
                <a:sym typeface="Montserrat Bold"/>
              </a:rPr>
              <a:t>Bảng quyết định</a:t>
            </a:r>
            <a:r>
              <a:rPr lang="en-US" sz="2228">
                <a:solidFill>
                  <a:srgbClr val="000000"/>
                </a:solidFill>
                <a:latin typeface="Montserrat"/>
                <a:ea typeface="Montserrat"/>
                <a:cs typeface="Montserrat"/>
                <a:sym typeface="Montserrat"/>
              </a:rPr>
              <a:t> (Decision Table) Sử dụng cho các luồng nghiệp vụ phức tạp như xác thực người dùng dựa trên nhiều điều kiện (đúng user/sai pass, sai user/đúng pass, v.v.).</a:t>
            </a:r>
          </a:p>
        </p:txBody>
      </p:sp>
      <p:sp>
        <p:nvSpPr>
          <p:cNvPr name="TextBox 14" id="14"/>
          <p:cNvSpPr txBox="true"/>
          <p:nvPr/>
        </p:nvSpPr>
        <p:spPr>
          <a:xfrm rot="0">
            <a:off x="1042311" y="2651929"/>
            <a:ext cx="11345350" cy="350509"/>
          </a:xfrm>
          <a:prstGeom prst="rect">
            <a:avLst/>
          </a:prstGeom>
        </p:spPr>
        <p:txBody>
          <a:bodyPr anchor="t" rtlCol="false" tIns="0" lIns="0" bIns="0" rIns="0">
            <a:spAutoFit/>
          </a:bodyPr>
          <a:lstStyle/>
          <a:p>
            <a:pPr algn="just">
              <a:lnSpc>
                <a:spcPts val="3039"/>
              </a:lnSpc>
            </a:pPr>
            <a:r>
              <a:rPr lang="en-US" sz="3039" b="true">
                <a:solidFill>
                  <a:srgbClr val="000000"/>
                </a:solidFill>
                <a:latin typeface="Montserrat Bold"/>
                <a:ea typeface="Montserrat Bold"/>
                <a:cs typeface="Montserrat Bold"/>
                <a:sym typeface="Montserrat Bold"/>
              </a:rPr>
              <a:t>2.1. Kỹ thuật Kiểm thử Hộp đen (Black-box Testing)</a:t>
            </a:r>
          </a:p>
        </p:txBody>
      </p:sp>
      <p:sp>
        <p:nvSpPr>
          <p:cNvPr name="TextBox 15" id="15"/>
          <p:cNvSpPr txBox="true"/>
          <p:nvPr/>
        </p:nvSpPr>
        <p:spPr>
          <a:xfrm rot="0">
            <a:off x="9674084" y="3614452"/>
            <a:ext cx="8183794" cy="1091439"/>
          </a:xfrm>
          <a:prstGeom prst="rect">
            <a:avLst/>
          </a:prstGeom>
        </p:spPr>
        <p:txBody>
          <a:bodyPr anchor="t" rtlCol="false" tIns="0" lIns="0" bIns="0" rIns="0">
            <a:spAutoFit/>
          </a:bodyPr>
          <a:lstStyle/>
          <a:p>
            <a:pPr algn="just">
              <a:lnSpc>
                <a:spcPts val="2217"/>
              </a:lnSpc>
            </a:pPr>
            <a:r>
              <a:rPr lang="en-US" sz="2217" b="true">
                <a:solidFill>
                  <a:srgbClr val="000000"/>
                </a:solidFill>
                <a:latin typeface="Montserrat Bold"/>
                <a:ea typeface="Montserrat Bold"/>
                <a:cs typeface="Montserrat Bold"/>
                <a:sym typeface="Montserrat Bold"/>
              </a:rPr>
              <a:t>Phân vùng tương đương</a:t>
            </a:r>
            <a:r>
              <a:rPr lang="en-US" sz="2217">
                <a:solidFill>
                  <a:srgbClr val="000000"/>
                </a:solidFill>
                <a:latin typeface="Montserrat"/>
                <a:ea typeface="Montserrat"/>
                <a:cs typeface="Montserrat"/>
                <a:sym typeface="Montserrat"/>
              </a:rPr>
              <a:t> (Equivalence Partitioning) Chia các giá trị nhập vào (Username, Password, Search) thành các nhóm hợp lệ và không hợp lệ để giảm số lượng test case nhưng vẫn đảm bảo độ bao phủ.</a:t>
            </a:r>
          </a:p>
        </p:txBody>
      </p:sp>
      <p:sp>
        <p:nvSpPr>
          <p:cNvPr name="TextBox 16" id="16"/>
          <p:cNvSpPr txBox="true"/>
          <p:nvPr/>
        </p:nvSpPr>
        <p:spPr>
          <a:xfrm rot="0">
            <a:off x="1042311" y="7055587"/>
            <a:ext cx="8222673" cy="1091713"/>
          </a:xfrm>
          <a:prstGeom prst="rect">
            <a:avLst/>
          </a:prstGeom>
        </p:spPr>
        <p:txBody>
          <a:bodyPr anchor="t" rtlCol="false" tIns="0" lIns="0" bIns="0" rIns="0">
            <a:spAutoFit/>
          </a:bodyPr>
          <a:lstStyle/>
          <a:p>
            <a:pPr algn="just">
              <a:lnSpc>
                <a:spcPts val="2228"/>
              </a:lnSpc>
            </a:pPr>
            <a:r>
              <a:rPr lang="en-US" sz="2228" b="true">
                <a:solidFill>
                  <a:srgbClr val="000000"/>
                </a:solidFill>
                <a:latin typeface="Montserrat Bold"/>
                <a:ea typeface="Montserrat Bold"/>
                <a:cs typeface="Montserrat Bold"/>
                <a:sym typeface="Montserrat Bold"/>
              </a:rPr>
              <a:t>Phân tích giá trị biên</a:t>
            </a:r>
            <a:r>
              <a:rPr lang="en-US" sz="2228">
                <a:solidFill>
                  <a:srgbClr val="000000"/>
                </a:solidFill>
                <a:latin typeface="Montserrat"/>
                <a:ea typeface="Montserrat"/>
                <a:cs typeface="Montserrat"/>
                <a:sym typeface="Montserrat"/>
              </a:rPr>
              <a:t> (Boundary Value Analysis) Kiểm tra các giới hạn của trường nhập liệu (ví dụ: độ dài mật khẩu, ký tự đặc biệt) để đảm bảo hệ thống xử lý đúng tại các điểm "biên".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121344" cy="10193256"/>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grpSp>
        <p:nvGrpSpPr>
          <p:cNvPr name="Group 4" id="4"/>
          <p:cNvGrpSpPr/>
          <p:nvPr/>
        </p:nvGrpSpPr>
        <p:grpSpPr>
          <a:xfrm rot="0">
            <a:off x="6725099" y="6811813"/>
            <a:ext cx="6002662" cy="2496064"/>
            <a:chOff x="0" y="0"/>
            <a:chExt cx="4543400" cy="1889265"/>
          </a:xfrm>
        </p:grpSpPr>
        <p:sp>
          <p:nvSpPr>
            <p:cNvPr name="Freeform 5" id="5"/>
            <p:cNvSpPr/>
            <p:nvPr/>
          </p:nvSpPr>
          <p:spPr>
            <a:xfrm flipH="false" flipV="false" rot="0">
              <a:off x="0" y="0"/>
              <a:ext cx="4543425" cy="1889252"/>
            </a:xfrm>
            <a:custGeom>
              <a:avLst/>
              <a:gdLst/>
              <a:ahLst/>
              <a:cxnLst/>
              <a:rect r="r" b="b" t="t" l="l"/>
              <a:pathLst>
                <a:path h="1889252" w="4543425">
                  <a:moveTo>
                    <a:pt x="0" y="0"/>
                  </a:moveTo>
                  <a:lnTo>
                    <a:pt x="4543425" y="0"/>
                  </a:lnTo>
                  <a:lnTo>
                    <a:pt x="4543425" y="1889252"/>
                  </a:lnTo>
                  <a:lnTo>
                    <a:pt x="0" y="1889252"/>
                  </a:lnTo>
                  <a:lnTo>
                    <a:pt x="0" y="0"/>
                  </a:lnTo>
                  <a:close/>
                </a:path>
              </a:pathLst>
            </a:custGeom>
            <a:blipFill>
              <a:blip r:embed="rId3"/>
              <a:stretch>
                <a:fillRect l="0" t="-70243" r="0" b="-70243"/>
              </a:stretch>
            </a:blipFill>
          </p:spPr>
        </p:sp>
      </p:grpSp>
      <p:grpSp>
        <p:nvGrpSpPr>
          <p:cNvPr name="Group 6" id="6"/>
          <p:cNvGrpSpPr/>
          <p:nvPr/>
        </p:nvGrpSpPr>
        <p:grpSpPr>
          <a:xfrm rot="0">
            <a:off x="12114488" y="5230575"/>
            <a:ext cx="9975045" cy="8154605"/>
            <a:chOff x="0" y="0"/>
            <a:chExt cx="7550086" cy="6172200"/>
          </a:xfrm>
        </p:grpSpPr>
        <p:sp>
          <p:nvSpPr>
            <p:cNvPr name="Freeform 7" id="7"/>
            <p:cNvSpPr/>
            <p:nvPr/>
          </p:nvSpPr>
          <p:spPr>
            <a:xfrm flipH="true" flipV="true" rot="0">
              <a:off x="0" y="0"/>
              <a:ext cx="7550150" cy="6172200"/>
            </a:xfrm>
            <a:custGeom>
              <a:avLst/>
              <a:gdLst/>
              <a:ahLst/>
              <a:cxnLst/>
              <a:rect r="r" b="b" t="t" l="l"/>
              <a:pathLst>
                <a:path h="6172200" w="7550150">
                  <a:moveTo>
                    <a:pt x="7550150" y="6172200"/>
                  </a:moveTo>
                  <a:lnTo>
                    <a:pt x="0" y="6172200"/>
                  </a:lnTo>
                  <a:lnTo>
                    <a:pt x="0" y="0"/>
                  </a:lnTo>
                  <a:lnTo>
                    <a:pt x="7550150" y="0"/>
                  </a:lnTo>
                  <a:lnTo>
                    <a:pt x="7550150" y="6172200"/>
                  </a:lnTo>
                  <a:close/>
                </a:path>
              </a:pathLst>
            </a:custGeom>
            <a:blipFill>
              <a:blip r:embed="rId4">
                <a:alphaModFix amt="31000"/>
              </a:blip>
              <a:stretch>
                <a:fillRect l="0" t="-19" r="0" b="-19"/>
              </a:stretch>
            </a:blipFill>
          </p:spPr>
        </p:sp>
      </p:grpSp>
      <p:grpSp>
        <p:nvGrpSpPr>
          <p:cNvPr name="Group 8" id="8"/>
          <p:cNvGrpSpPr/>
          <p:nvPr/>
        </p:nvGrpSpPr>
        <p:grpSpPr>
          <a:xfrm rot="0">
            <a:off x="12894091" y="3203182"/>
            <a:ext cx="3678532" cy="6990074"/>
            <a:chOff x="0" y="0"/>
            <a:chExt cx="2784272" cy="5290769"/>
          </a:xfrm>
        </p:grpSpPr>
        <p:sp>
          <p:nvSpPr>
            <p:cNvPr name="Freeform 9" id="9"/>
            <p:cNvSpPr/>
            <p:nvPr/>
          </p:nvSpPr>
          <p:spPr>
            <a:xfrm flipH="false" flipV="false" rot="0">
              <a:off x="0" y="0"/>
              <a:ext cx="2784221" cy="5290820"/>
            </a:xfrm>
            <a:custGeom>
              <a:avLst/>
              <a:gdLst/>
              <a:ahLst/>
              <a:cxnLst/>
              <a:rect r="r" b="b" t="t" l="l"/>
              <a:pathLst>
                <a:path h="5290820" w="2784221">
                  <a:moveTo>
                    <a:pt x="0" y="0"/>
                  </a:moveTo>
                  <a:lnTo>
                    <a:pt x="2784221" y="0"/>
                  </a:lnTo>
                  <a:lnTo>
                    <a:pt x="2784221" y="5290820"/>
                  </a:lnTo>
                  <a:lnTo>
                    <a:pt x="0" y="5290820"/>
                  </a:lnTo>
                  <a:lnTo>
                    <a:pt x="0" y="0"/>
                  </a:lnTo>
                  <a:close/>
                </a:path>
              </a:pathLst>
            </a:custGeom>
            <a:blipFill>
              <a:blip r:embed="rId5"/>
              <a:stretch>
                <a:fillRect l="-27" t="0" r="-29" b="0"/>
              </a:stretch>
            </a:blipFill>
          </p:spPr>
        </p:sp>
      </p:grpSp>
      <p:sp>
        <p:nvSpPr>
          <p:cNvPr name="TextBox 10" id="10"/>
          <p:cNvSpPr txBox="true"/>
          <p:nvPr/>
        </p:nvSpPr>
        <p:spPr>
          <a:xfrm rot="0">
            <a:off x="7000863" y="7577681"/>
            <a:ext cx="5451152" cy="1057274"/>
          </a:xfrm>
          <a:prstGeom prst="rect">
            <a:avLst/>
          </a:prstGeom>
        </p:spPr>
        <p:txBody>
          <a:bodyPr anchor="t" rtlCol="false" tIns="0" lIns="0" bIns="0" rIns="0">
            <a:spAutoFit/>
          </a:bodyPr>
          <a:lstStyle/>
          <a:p>
            <a:pPr algn="just">
              <a:lnSpc>
                <a:spcPts val="2179"/>
              </a:lnSpc>
            </a:pPr>
            <a:r>
              <a:rPr lang="en-US" sz="2179">
                <a:solidFill>
                  <a:srgbClr val="000000"/>
                </a:solidFill>
                <a:latin typeface="Montserrat"/>
                <a:ea typeface="Montserrat"/>
                <a:cs typeface="Montserrat"/>
                <a:sym typeface="Montserrat"/>
              </a:rPr>
              <a:t>Đồ thị luồng điều khiển (Control Flow Graph) Phân tích luồng thực thi của các script xử lý dữ liệu phức tạp (ví dụ: APIActions.ts, WebActions.ts).</a:t>
            </a:r>
          </a:p>
        </p:txBody>
      </p:sp>
      <p:sp>
        <p:nvSpPr>
          <p:cNvPr name="TextBox 11" id="11"/>
          <p:cNvSpPr txBox="true"/>
          <p:nvPr/>
        </p:nvSpPr>
        <p:spPr>
          <a:xfrm rot="0">
            <a:off x="1019326" y="2861663"/>
            <a:ext cx="12494163" cy="341520"/>
          </a:xfrm>
          <a:prstGeom prst="rect">
            <a:avLst/>
          </a:prstGeom>
        </p:spPr>
        <p:txBody>
          <a:bodyPr anchor="t" rtlCol="false" tIns="0" lIns="0" bIns="0" rIns="0">
            <a:spAutoFit/>
          </a:bodyPr>
          <a:lstStyle/>
          <a:p>
            <a:pPr algn="just">
              <a:lnSpc>
                <a:spcPts val="2972"/>
              </a:lnSpc>
            </a:pPr>
            <a:r>
              <a:rPr lang="en-US" sz="2972" b="true">
                <a:solidFill>
                  <a:srgbClr val="000000"/>
                </a:solidFill>
                <a:latin typeface="Montserrat Bold"/>
                <a:ea typeface="Montserrat Bold"/>
                <a:cs typeface="Montserrat Bold"/>
                <a:sym typeface="Montserrat Bold"/>
              </a:rPr>
              <a:t>2.2. Kỹ thuật Kiểm thử Hộp trắng (White-box Testing)</a:t>
            </a:r>
          </a:p>
        </p:txBody>
      </p:sp>
      <p:grpSp>
        <p:nvGrpSpPr>
          <p:cNvPr name="Group 12" id="12"/>
          <p:cNvGrpSpPr/>
          <p:nvPr/>
        </p:nvGrpSpPr>
        <p:grpSpPr>
          <a:xfrm rot="0">
            <a:off x="522834" y="3530776"/>
            <a:ext cx="6002662" cy="2496064"/>
            <a:chOff x="0" y="0"/>
            <a:chExt cx="4543400" cy="1889265"/>
          </a:xfrm>
        </p:grpSpPr>
        <p:sp>
          <p:nvSpPr>
            <p:cNvPr name="Freeform 13" id="13"/>
            <p:cNvSpPr/>
            <p:nvPr/>
          </p:nvSpPr>
          <p:spPr>
            <a:xfrm flipH="false" flipV="false" rot="0">
              <a:off x="0" y="0"/>
              <a:ext cx="4543425" cy="1889252"/>
            </a:xfrm>
            <a:custGeom>
              <a:avLst/>
              <a:gdLst/>
              <a:ahLst/>
              <a:cxnLst/>
              <a:rect r="r" b="b" t="t" l="l"/>
              <a:pathLst>
                <a:path h="1889252" w="4543425">
                  <a:moveTo>
                    <a:pt x="0" y="0"/>
                  </a:moveTo>
                  <a:lnTo>
                    <a:pt x="4543425" y="0"/>
                  </a:lnTo>
                  <a:lnTo>
                    <a:pt x="4543425" y="1889252"/>
                  </a:lnTo>
                  <a:lnTo>
                    <a:pt x="0" y="1889252"/>
                  </a:lnTo>
                  <a:lnTo>
                    <a:pt x="0" y="0"/>
                  </a:lnTo>
                  <a:close/>
                </a:path>
              </a:pathLst>
            </a:custGeom>
            <a:blipFill>
              <a:blip r:embed="rId3"/>
              <a:stretch>
                <a:fillRect l="0" t="-70243" r="0" b="-70243"/>
              </a:stretch>
            </a:blipFill>
          </p:spPr>
        </p:sp>
      </p:grpSp>
      <p:sp>
        <p:nvSpPr>
          <p:cNvPr name="TextBox 14" id="14"/>
          <p:cNvSpPr txBox="true"/>
          <p:nvPr/>
        </p:nvSpPr>
        <p:spPr>
          <a:xfrm rot="0">
            <a:off x="1019326" y="4296644"/>
            <a:ext cx="5009696" cy="1057274"/>
          </a:xfrm>
          <a:prstGeom prst="rect">
            <a:avLst/>
          </a:prstGeom>
        </p:spPr>
        <p:txBody>
          <a:bodyPr anchor="t" rtlCol="false" tIns="0" lIns="0" bIns="0" rIns="0">
            <a:spAutoFit/>
          </a:bodyPr>
          <a:lstStyle/>
          <a:p>
            <a:pPr algn="just">
              <a:lnSpc>
                <a:spcPts val="2179"/>
              </a:lnSpc>
            </a:pPr>
            <a:r>
              <a:rPr lang="en-US" sz="2179">
                <a:solidFill>
                  <a:srgbClr val="000000"/>
                </a:solidFill>
                <a:latin typeface="Montserrat"/>
                <a:ea typeface="Montserrat"/>
                <a:cs typeface="Montserrat"/>
                <a:sym typeface="Montserrat"/>
              </a:rPr>
              <a:t>Statement / Branch / Path Coverage Kiểm tra các nhánh logic trong API và các phương thức xử lý dữ liệu tại Backend.</a:t>
            </a:r>
          </a:p>
        </p:txBody>
      </p:sp>
      <p:sp>
        <p:nvSpPr>
          <p:cNvPr name="TextBox 15" id="15"/>
          <p:cNvSpPr txBox="true"/>
          <p:nvPr/>
        </p:nvSpPr>
        <p:spPr>
          <a:xfrm rot="0">
            <a:off x="287089" y="976851"/>
            <a:ext cx="18121344" cy="1037672"/>
          </a:xfrm>
          <a:prstGeom prst="rect">
            <a:avLst/>
          </a:prstGeom>
        </p:spPr>
        <p:txBody>
          <a:bodyPr anchor="t" rtlCol="false" tIns="0" lIns="0" bIns="0" rIns="0">
            <a:spAutoFit/>
          </a:bodyPr>
          <a:lstStyle/>
          <a:p>
            <a:pPr algn="just">
              <a:lnSpc>
                <a:spcPts val="7634"/>
              </a:lnSpc>
            </a:pPr>
            <a:r>
              <a:rPr lang="en-US" sz="5453">
                <a:solidFill>
                  <a:srgbClr val="000000"/>
                </a:solidFill>
                <a:latin typeface="Paytone One"/>
                <a:ea typeface="Paytone One"/>
                <a:cs typeface="Paytone One"/>
                <a:sym typeface="Paytone One"/>
              </a:rPr>
              <a:t>Phần 4: Kỹ thuật Kiểm thử &amp; Kết quả Thực tế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50290" cy="10265788"/>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grpSp>
        <p:nvGrpSpPr>
          <p:cNvPr name="Group 4" id="4"/>
          <p:cNvGrpSpPr/>
          <p:nvPr/>
        </p:nvGrpSpPr>
        <p:grpSpPr>
          <a:xfrm rot="0">
            <a:off x="12200690" y="5267794"/>
            <a:ext cx="10046024" cy="8212630"/>
            <a:chOff x="0" y="0"/>
            <a:chExt cx="7550086" cy="6172200"/>
          </a:xfrm>
        </p:grpSpPr>
        <p:sp>
          <p:nvSpPr>
            <p:cNvPr name="Freeform 5" id="5"/>
            <p:cNvSpPr/>
            <p:nvPr/>
          </p:nvSpPr>
          <p:spPr>
            <a:xfrm flipH="true" flipV="true" rot="0">
              <a:off x="0" y="0"/>
              <a:ext cx="7550150" cy="6172200"/>
            </a:xfrm>
            <a:custGeom>
              <a:avLst/>
              <a:gdLst/>
              <a:ahLst/>
              <a:cxnLst/>
              <a:rect r="r" b="b" t="t" l="l"/>
              <a:pathLst>
                <a:path h="6172200" w="7550150">
                  <a:moveTo>
                    <a:pt x="7550150" y="6172200"/>
                  </a:moveTo>
                  <a:lnTo>
                    <a:pt x="0" y="6172200"/>
                  </a:lnTo>
                  <a:lnTo>
                    <a:pt x="0" y="0"/>
                  </a:lnTo>
                  <a:lnTo>
                    <a:pt x="7550150" y="0"/>
                  </a:lnTo>
                  <a:lnTo>
                    <a:pt x="7550150" y="6172200"/>
                  </a:lnTo>
                  <a:close/>
                </a:path>
              </a:pathLst>
            </a:custGeom>
            <a:blipFill>
              <a:blip r:embed="rId3">
                <a:alphaModFix amt="31000"/>
              </a:blip>
              <a:stretch>
                <a:fillRect l="0" t="-19" r="0" b="-19"/>
              </a:stretch>
            </a:blipFill>
          </p:spPr>
        </p:sp>
      </p:grpSp>
      <p:grpSp>
        <p:nvGrpSpPr>
          <p:cNvPr name="Group 6" id="6"/>
          <p:cNvGrpSpPr/>
          <p:nvPr/>
        </p:nvGrpSpPr>
        <p:grpSpPr>
          <a:xfrm rot="0">
            <a:off x="4077909" y="2330613"/>
            <a:ext cx="10094472" cy="7608698"/>
            <a:chOff x="0" y="0"/>
            <a:chExt cx="7586497" cy="5718315"/>
          </a:xfrm>
        </p:grpSpPr>
        <p:sp>
          <p:nvSpPr>
            <p:cNvPr name="Freeform 7" id="7"/>
            <p:cNvSpPr/>
            <p:nvPr/>
          </p:nvSpPr>
          <p:spPr>
            <a:xfrm flipH="false" flipV="false" rot="0">
              <a:off x="0" y="0"/>
              <a:ext cx="7586472" cy="5718302"/>
            </a:xfrm>
            <a:custGeom>
              <a:avLst/>
              <a:gdLst/>
              <a:ahLst/>
              <a:cxnLst/>
              <a:rect r="r" b="b" t="t" l="l"/>
              <a:pathLst>
                <a:path h="5718302" w="7586472">
                  <a:moveTo>
                    <a:pt x="0" y="0"/>
                  </a:moveTo>
                  <a:lnTo>
                    <a:pt x="7586472" y="0"/>
                  </a:lnTo>
                  <a:lnTo>
                    <a:pt x="7586472" y="5718302"/>
                  </a:lnTo>
                  <a:lnTo>
                    <a:pt x="0" y="5718302"/>
                  </a:lnTo>
                  <a:lnTo>
                    <a:pt x="0" y="0"/>
                  </a:lnTo>
                  <a:close/>
                </a:path>
              </a:pathLst>
            </a:custGeom>
            <a:blipFill>
              <a:blip r:embed="rId4"/>
              <a:stretch>
                <a:fillRect l="0" t="-16" r="0" b="-16"/>
              </a:stretch>
            </a:blipFill>
          </p:spPr>
        </p:sp>
      </p:grpSp>
      <p:sp>
        <p:nvSpPr>
          <p:cNvPr name="TextBox 8" id="8"/>
          <p:cNvSpPr txBox="true"/>
          <p:nvPr/>
        </p:nvSpPr>
        <p:spPr>
          <a:xfrm rot="0">
            <a:off x="1026579" y="1143742"/>
            <a:ext cx="18250290" cy="1034785"/>
          </a:xfrm>
          <a:prstGeom prst="rect">
            <a:avLst/>
          </a:prstGeom>
        </p:spPr>
        <p:txBody>
          <a:bodyPr anchor="t" rtlCol="false" tIns="0" lIns="0" bIns="0" rIns="0">
            <a:spAutoFit/>
          </a:bodyPr>
          <a:lstStyle/>
          <a:p>
            <a:pPr algn="just">
              <a:lnSpc>
                <a:spcPts val="7689"/>
              </a:lnSpc>
            </a:pPr>
            <a:r>
              <a:rPr lang="en-US" sz="5492">
                <a:solidFill>
                  <a:srgbClr val="000000"/>
                </a:solidFill>
                <a:latin typeface="Paytone One"/>
                <a:ea typeface="Paytone One"/>
                <a:cs typeface="Paytone One"/>
                <a:sym typeface="Paytone One"/>
              </a:rPr>
              <a:t>Phần 5: Test Case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sp>
        <p:nvSpPr>
          <p:cNvPr name="Freeform 4" id="4"/>
          <p:cNvSpPr/>
          <p:nvPr/>
        </p:nvSpPr>
        <p:spPr>
          <a:xfrm flipH="false" flipV="false" rot="0">
            <a:off x="559432" y="3123331"/>
            <a:ext cx="16979932" cy="4207504"/>
          </a:xfrm>
          <a:custGeom>
            <a:avLst/>
            <a:gdLst/>
            <a:ahLst/>
            <a:cxnLst/>
            <a:rect r="r" b="b" t="t" l="l"/>
            <a:pathLst>
              <a:path h="4207504" w="16979932">
                <a:moveTo>
                  <a:pt x="0" y="0"/>
                </a:moveTo>
                <a:lnTo>
                  <a:pt x="16979932" y="0"/>
                </a:lnTo>
                <a:lnTo>
                  <a:pt x="16979932" y="4207505"/>
                </a:lnTo>
                <a:lnTo>
                  <a:pt x="0" y="4207505"/>
                </a:lnTo>
                <a:lnTo>
                  <a:pt x="0" y="0"/>
                </a:lnTo>
                <a:close/>
              </a:path>
            </a:pathLst>
          </a:custGeom>
          <a:blipFill>
            <a:blip r:embed="rId3"/>
            <a:stretch>
              <a:fillRect l="-313" t="0" r="-313" b="0"/>
            </a:stretch>
          </a:blipFill>
        </p:spPr>
      </p:sp>
      <p:sp>
        <p:nvSpPr>
          <p:cNvPr name="TextBox 5" id="5"/>
          <p:cNvSpPr txBox="true"/>
          <p:nvPr/>
        </p:nvSpPr>
        <p:spPr>
          <a:xfrm rot="0">
            <a:off x="724831" y="388798"/>
            <a:ext cx="18288000" cy="1046251"/>
          </a:xfrm>
          <a:prstGeom prst="rect">
            <a:avLst/>
          </a:prstGeom>
        </p:spPr>
        <p:txBody>
          <a:bodyPr anchor="t" rtlCol="false" tIns="0" lIns="0" bIns="0" rIns="0">
            <a:spAutoFit/>
          </a:bodyPr>
          <a:lstStyle/>
          <a:p>
            <a:pPr algn="just">
              <a:lnSpc>
                <a:spcPts val="7704"/>
              </a:lnSpc>
            </a:pPr>
            <a:r>
              <a:rPr lang="en-US" sz="5503">
                <a:solidFill>
                  <a:srgbClr val="000000"/>
                </a:solidFill>
                <a:latin typeface="Paytone One"/>
                <a:ea typeface="Paytone One"/>
                <a:cs typeface="Paytone One"/>
                <a:sym typeface="Paytone One"/>
              </a:rPr>
              <a:t>Phần 6: TỔNG HỢP PHÂN TÍCH FLAKY TESTS </a:t>
            </a:r>
          </a:p>
        </p:txBody>
      </p:sp>
      <p:sp>
        <p:nvSpPr>
          <p:cNvPr name="TextBox 6" id="6"/>
          <p:cNvSpPr txBox="true"/>
          <p:nvPr/>
        </p:nvSpPr>
        <p:spPr>
          <a:xfrm rot="0">
            <a:off x="724831" y="2247494"/>
            <a:ext cx="6492123" cy="505883"/>
          </a:xfrm>
          <a:prstGeom prst="rect">
            <a:avLst/>
          </a:prstGeom>
        </p:spPr>
        <p:txBody>
          <a:bodyPr anchor="t" rtlCol="false" tIns="0" lIns="0" bIns="0" rIns="0">
            <a:spAutoFit/>
          </a:bodyPr>
          <a:lstStyle/>
          <a:p>
            <a:pPr algn="ctr">
              <a:lnSpc>
                <a:spcPts val="4200"/>
              </a:lnSpc>
            </a:pPr>
            <a:r>
              <a:rPr lang="en-US" sz="3000">
                <a:solidFill>
                  <a:srgbClr val="000000"/>
                </a:solidFill>
                <a:latin typeface="Paytone One"/>
                <a:ea typeface="Paytone One"/>
                <a:cs typeface="Paytone One"/>
                <a:sym typeface="Paytone One"/>
              </a:rPr>
              <a:t>Thống kê Flaky Rate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832835" cy="10593470"/>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grpSp>
        <p:nvGrpSpPr>
          <p:cNvPr name="Group 4" id="4"/>
          <p:cNvGrpSpPr/>
          <p:nvPr/>
        </p:nvGrpSpPr>
        <p:grpSpPr>
          <a:xfrm rot="0">
            <a:off x="786929" y="3280593"/>
            <a:ext cx="16714141" cy="4032284"/>
            <a:chOff x="0" y="0"/>
            <a:chExt cx="12172950" cy="2936723"/>
          </a:xfrm>
        </p:grpSpPr>
        <p:sp>
          <p:nvSpPr>
            <p:cNvPr name="Freeform 5" id="5"/>
            <p:cNvSpPr/>
            <p:nvPr/>
          </p:nvSpPr>
          <p:spPr>
            <a:xfrm flipH="false" flipV="false" rot="0">
              <a:off x="0" y="0"/>
              <a:ext cx="12172950" cy="2936748"/>
            </a:xfrm>
            <a:custGeom>
              <a:avLst/>
              <a:gdLst/>
              <a:ahLst/>
              <a:cxnLst/>
              <a:rect r="r" b="b" t="t" l="l"/>
              <a:pathLst>
                <a:path h="2936748" w="12172950">
                  <a:moveTo>
                    <a:pt x="0" y="0"/>
                  </a:moveTo>
                  <a:lnTo>
                    <a:pt x="12172950" y="0"/>
                  </a:lnTo>
                  <a:lnTo>
                    <a:pt x="12172950" y="2936748"/>
                  </a:lnTo>
                  <a:lnTo>
                    <a:pt x="0" y="2936748"/>
                  </a:lnTo>
                  <a:lnTo>
                    <a:pt x="0" y="0"/>
                  </a:lnTo>
                  <a:close/>
                </a:path>
              </a:pathLst>
            </a:custGeom>
            <a:blipFill>
              <a:blip r:embed="rId3"/>
              <a:stretch>
                <a:fillRect l="0" t="-4" r="0" b="-3"/>
              </a:stretch>
            </a:blipFill>
          </p:spPr>
        </p:sp>
      </p:grpSp>
      <p:sp>
        <p:nvSpPr>
          <p:cNvPr name="TextBox 6" id="6"/>
          <p:cNvSpPr txBox="true"/>
          <p:nvPr/>
        </p:nvSpPr>
        <p:spPr>
          <a:xfrm rot="0">
            <a:off x="1095862" y="841575"/>
            <a:ext cx="18832835" cy="1074300"/>
          </a:xfrm>
          <a:prstGeom prst="rect">
            <a:avLst/>
          </a:prstGeom>
        </p:spPr>
        <p:txBody>
          <a:bodyPr anchor="t" rtlCol="false" tIns="0" lIns="0" bIns="0" rIns="0">
            <a:spAutoFit/>
          </a:bodyPr>
          <a:lstStyle/>
          <a:p>
            <a:pPr algn="just">
              <a:lnSpc>
                <a:spcPts val="7934"/>
              </a:lnSpc>
            </a:pPr>
            <a:r>
              <a:rPr lang="en-US" sz="5667">
                <a:solidFill>
                  <a:srgbClr val="000000"/>
                </a:solidFill>
                <a:latin typeface="Paytone One"/>
                <a:ea typeface="Paytone One"/>
                <a:cs typeface="Paytone One"/>
                <a:sym typeface="Paytone One"/>
              </a:rPr>
              <a:t>Phần 6: TỔNG HỢP PHÂN TÍCH FLAKY TESTS </a:t>
            </a:r>
          </a:p>
        </p:txBody>
      </p:sp>
      <p:sp>
        <p:nvSpPr>
          <p:cNvPr name="TextBox 7" id="7"/>
          <p:cNvSpPr txBox="true"/>
          <p:nvPr/>
        </p:nvSpPr>
        <p:spPr>
          <a:xfrm rot="0">
            <a:off x="1095862" y="2435936"/>
            <a:ext cx="6481264" cy="528777"/>
          </a:xfrm>
          <a:prstGeom prst="rect">
            <a:avLst/>
          </a:prstGeom>
        </p:spPr>
        <p:txBody>
          <a:bodyPr anchor="t" rtlCol="false" tIns="0" lIns="0" bIns="0" rIns="0">
            <a:spAutoFit/>
          </a:bodyPr>
          <a:lstStyle/>
          <a:p>
            <a:pPr algn="ctr">
              <a:lnSpc>
                <a:spcPts val="4325"/>
              </a:lnSpc>
            </a:pPr>
            <a:r>
              <a:rPr lang="en-US" sz="3089">
                <a:solidFill>
                  <a:srgbClr val="000000"/>
                </a:solidFill>
                <a:latin typeface="Paytone One"/>
                <a:ea typeface="Paytone One"/>
                <a:cs typeface="Paytone One"/>
                <a:sym typeface="Paytone One"/>
              </a:rPr>
              <a:t>Nguyên nhân &amp; Giải pháp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523046" cy="10419214"/>
            <a:chOff x="0" y="0"/>
            <a:chExt cx="13716000" cy="7715250"/>
          </a:xfrm>
        </p:grpSpPr>
        <p:sp>
          <p:nvSpPr>
            <p:cNvPr name="Freeform 3" id="3"/>
            <p:cNvSpPr/>
            <p:nvPr/>
          </p:nvSpPr>
          <p:spPr>
            <a:xfrm flipH="false" flipV="false" rot="0">
              <a:off x="0" y="0"/>
              <a:ext cx="13716000" cy="7715250"/>
            </a:xfrm>
            <a:custGeom>
              <a:avLst/>
              <a:gdLst/>
              <a:ahLst/>
              <a:cxnLst/>
              <a:rect r="r" b="b" t="t" l="l"/>
              <a:pathLst>
                <a:path h="7715250" w="13716000">
                  <a:moveTo>
                    <a:pt x="0" y="0"/>
                  </a:moveTo>
                  <a:lnTo>
                    <a:pt x="13716000" y="0"/>
                  </a:lnTo>
                  <a:lnTo>
                    <a:pt x="13716000" y="7715250"/>
                  </a:lnTo>
                  <a:lnTo>
                    <a:pt x="0" y="7715250"/>
                  </a:lnTo>
                  <a:lnTo>
                    <a:pt x="0" y="0"/>
                  </a:lnTo>
                  <a:close/>
                </a:path>
              </a:pathLst>
            </a:custGeom>
            <a:blipFill>
              <a:blip r:embed="rId2"/>
              <a:stretch>
                <a:fillRect l="0" t="-38888" r="0" b="-38888"/>
              </a:stretch>
            </a:blipFill>
          </p:spPr>
        </p:sp>
      </p:grpSp>
      <p:sp>
        <p:nvSpPr>
          <p:cNvPr name="TextBox 4" id="4"/>
          <p:cNvSpPr txBox="true"/>
          <p:nvPr/>
        </p:nvSpPr>
        <p:spPr>
          <a:xfrm rot="0">
            <a:off x="734147" y="395141"/>
            <a:ext cx="18523046" cy="1058352"/>
          </a:xfrm>
          <a:prstGeom prst="rect">
            <a:avLst/>
          </a:prstGeom>
        </p:spPr>
        <p:txBody>
          <a:bodyPr anchor="t" rtlCol="false" tIns="0" lIns="0" bIns="0" rIns="0">
            <a:spAutoFit/>
          </a:bodyPr>
          <a:lstStyle/>
          <a:p>
            <a:pPr algn="just">
              <a:lnSpc>
                <a:spcPts val="7803"/>
              </a:lnSpc>
            </a:pPr>
            <a:r>
              <a:rPr lang="en-US" sz="5574">
                <a:solidFill>
                  <a:srgbClr val="000000"/>
                </a:solidFill>
                <a:latin typeface="Paytone One"/>
                <a:ea typeface="Paytone One"/>
                <a:cs typeface="Paytone One"/>
                <a:sym typeface="Paytone One"/>
              </a:rPr>
              <a:t>Phần 7: Tổng kết và Đánh giá</a:t>
            </a:r>
          </a:p>
        </p:txBody>
      </p:sp>
      <p:sp>
        <p:nvSpPr>
          <p:cNvPr name="TextBox 5" id="5"/>
          <p:cNvSpPr txBox="true"/>
          <p:nvPr/>
        </p:nvSpPr>
        <p:spPr>
          <a:xfrm rot="0">
            <a:off x="734147" y="7271818"/>
            <a:ext cx="8527376" cy="1892865"/>
          </a:xfrm>
          <a:prstGeom prst="rect">
            <a:avLst/>
          </a:prstGeom>
        </p:spPr>
        <p:txBody>
          <a:bodyPr anchor="t" rtlCol="false" tIns="0" lIns="0" bIns="0" rIns="0">
            <a:spAutoFit/>
          </a:bodyPr>
          <a:lstStyle/>
          <a:p>
            <a:pPr algn="just" marL="350631" indent="-116877" lvl="2">
              <a:lnSpc>
                <a:spcPts val="2835"/>
              </a:lnSpc>
              <a:buFont typeface="Arial"/>
              <a:buChar char="⚬"/>
            </a:pPr>
            <a:r>
              <a:rPr lang="en-US" sz="2025">
                <a:solidFill>
                  <a:srgbClr val="000000"/>
                </a:solidFill>
                <a:latin typeface="Carlito"/>
                <a:ea typeface="Carlito"/>
                <a:cs typeface="Carlito"/>
                <a:sym typeface="Carlito"/>
              </a:rPr>
              <a:t>Xử lý Pop-up &amp; Điểm tắc nghẽn: Áp dụng kỹ thuật Javascript Executor để buộc (force click) các Element bị che khuất; Dùng Explicit Wait thay vì Sleep cứng để xử lý thông minh độ trễ Load trang.</a:t>
            </a:r>
          </a:p>
          <a:p>
            <a:pPr algn="just" marL="350631" indent="-116877" lvl="2">
              <a:lnSpc>
                <a:spcPts val="2835"/>
              </a:lnSpc>
              <a:buFont typeface="Arial"/>
              <a:buChar char="⚬"/>
            </a:pPr>
            <a:r>
              <a:rPr lang="en-US" sz="2025">
                <a:solidFill>
                  <a:srgbClr val="000000"/>
                </a:solidFill>
                <a:latin typeface="Carlito"/>
                <a:ea typeface="Carlito"/>
                <a:cs typeface="Carlito"/>
                <a:sym typeface="Carlito"/>
              </a:rPr>
              <a:t>Mở rộng thư viện bổ trợ: Sử dụng các thư viện thao tác File nâng cao trong Java để bắt trọn được tệp tin Upload/Download chính xác.</a:t>
            </a:r>
          </a:p>
        </p:txBody>
      </p:sp>
      <p:sp>
        <p:nvSpPr>
          <p:cNvPr name="TextBox 6" id="6"/>
          <p:cNvSpPr txBox="true"/>
          <p:nvPr/>
        </p:nvSpPr>
        <p:spPr>
          <a:xfrm rot="0">
            <a:off x="734147" y="1707898"/>
            <a:ext cx="10960996" cy="707301"/>
          </a:xfrm>
          <a:prstGeom prst="rect">
            <a:avLst/>
          </a:prstGeom>
        </p:spPr>
        <p:txBody>
          <a:bodyPr anchor="t" rtlCol="false" tIns="0" lIns="0" bIns="0" rIns="0">
            <a:spAutoFit/>
          </a:bodyPr>
          <a:lstStyle/>
          <a:p>
            <a:pPr algn="l">
              <a:lnSpc>
                <a:spcPts val="4253"/>
              </a:lnSpc>
            </a:pPr>
            <a:r>
              <a:rPr lang="en-US" sz="3038">
                <a:solidFill>
                  <a:srgbClr val="000000"/>
                </a:solidFill>
                <a:latin typeface="Carlito"/>
                <a:ea typeface="Carlito"/>
                <a:cs typeface="Carlito"/>
                <a:sym typeface="Carlito"/>
              </a:rPr>
              <a:t>1 Kết quả đạt được (Achievements)</a:t>
            </a:r>
          </a:p>
        </p:txBody>
      </p:sp>
      <p:sp>
        <p:nvSpPr>
          <p:cNvPr name="TextBox 7" id="7"/>
          <p:cNvSpPr txBox="true"/>
          <p:nvPr/>
        </p:nvSpPr>
        <p:spPr>
          <a:xfrm rot="0">
            <a:off x="734147" y="2748574"/>
            <a:ext cx="8527376" cy="2963737"/>
          </a:xfrm>
          <a:prstGeom prst="rect">
            <a:avLst/>
          </a:prstGeom>
        </p:spPr>
        <p:txBody>
          <a:bodyPr anchor="t" rtlCol="false" tIns="0" lIns="0" bIns="0" rIns="0">
            <a:spAutoFit/>
          </a:bodyPr>
          <a:lstStyle/>
          <a:p>
            <a:pPr algn="just" marL="350631" indent="-116877" lvl="2">
              <a:lnSpc>
                <a:spcPts val="2835"/>
              </a:lnSpc>
              <a:buFont typeface="Arial"/>
              <a:buChar char="⚬"/>
            </a:pPr>
            <a:r>
              <a:rPr lang="en-US" sz="2025">
                <a:solidFill>
                  <a:srgbClr val="000000"/>
                </a:solidFill>
                <a:latin typeface="Carlito"/>
                <a:ea typeface="Carlito"/>
                <a:cs typeface="Carlito"/>
                <a:sym typeface="Carlito"/>
              </a:rPr>
              <a:t>Xây dựng thành công Framework: Khởi tạo và vận hành mượt mà kiến trúc kiểm thử tự động với Java, Selenium WebDriver và TestNG (áp dụng chuẩn mô hình Page Object Model).</a:t>
            </a:r>
          </a:p>
          <a:p>
            <a:pPr algn="just" marL="350631" indent="-116877" lvl="2">
              <a:lnSpc>
                <a:spcPts val="2835"/>
              </a:lnSpc>
              <a:buFont typeface="Arial"/>
              <a:buChar char="⚬"/>
            </a:pPr>
            <a:r>
              <a:rPr lang="en-US" sz="2025">
                <a:solidFill>
                  <a:srgbClr val="000000"/>
                </a:solidFill>
                <a:latin typeface="Carlito"/>
                <a:ea typeface="Carlito"/>
                <a:cs typeface="Carlito"/>
                <a:sym typeface="Carlito"/>
              </a:rPr>
              <a:t>Độ phủ kiểm thử tốt (High Coverage): Áp dụng thành công cả Kiểm thử Hộp đen (BVA, EP, Decision Table cho luồng UI/API) và Kiểm thử Hộp trắng (Phân tích CFG cho mã nguồn nội bộ Framework).</a:t>
            </a:r>
          </a:p>
          <a:p>
            <a:pPr algn="just" marL="350631" indent="-116877" lvl="2">
              <a:lnSpc>
                <a:spcPts val="2835"/>
              </a:lnSpc>
              <a:buFont typeface="Arial"/>
              <a:buChar char="⚬"/>
            </a:pPr>
            <a:r>
              <a:rPr lang="en-US" sz="2025">
                <a:solidFill>
                  <a:srgbClr val="000000"/>
                </a:solidFill>
                <a:latin typeface="Carlito"/>
                <a:ea typeface="Carlito"/>
                <a:cs typeface="Carlito"/>
                <a:sym typeface="Carlito"/>
              </a:rPr>
              <a:t>Báo cáo chuyên nghiệp: Đảm bảo xuất báo cáo HTML và xuất Log chi tiết sau mỗi chu kỳ Test (Giúp truy vết lỗi nhanh chóng).</a:t>
            </a:r>
          </a:p>
        </p:txBody>
      </p:sp>
      <p:sp>
        <p:nvSpPr>
          <p:cNvPr name="TextBox 8" id="8"/>
          <p:cNvSpPr txBox="true"/>
          <p:nvPr/>
        </p:nvSpPr>
        <p:spPr>
          <a:xfrm rot="0">
            <a:off x="9696420" y="1707898"/>
            <a:ext cx="5951834" cy="578326"/>
          </a:xfrm>
          <a:prstGeom prst="rect">
            <a:avLst/>
          </a:prstGeom>
        </p:spPr>
        <p:txBody>
          <a:bodyPr anchor="t" rtlCol="false" tIns="0" lIns="0" bIns="0" rIns="0">
            <a:spAutoFit/>
          </a:bodyPr>
          <a:lstStyle/>
          <a:p>
            <a:pPr algn="just">
              <a:lnSpc>
                <a:spcPts val="4253"/>
              </a:lnSpc>
            </a:pPr>
            <a:r>
              <a:rPr lang="en-US" sz="3038">
                <a:solidFill>
                  <a:srgbClr val="000000"/>
                </a:solidFill>
                <a:latin typeface="Carlito"/>
                <a:ea typeface="Carlito"/>
                <a:cs typeface="Carlito"/>
                <a:sym typeface="Carlito"/>
              </a:rPr>
              <a:t>2 Khó khăn gặp phải (Challenges)</a:t>
            </a:r>
          </a:p>
        </p:txBody>
      </p:sp>
      <p:sp>
        <p:nvSpPr>
          <p:cNvPr name="TextBox 9" id="9"/>
          <p:cNvSpPr txBox="true"/>
          <p:nvPr/>
        </p:nvSpPr>
        <p:spPr>
          <a:xfrm rot="0">
            <a:off x="9696420" y="2709890"/>
            <a:ext cx="8202375" cy="2768935"/>
          </a:xfrm>
          <a:prstGeom prst="rect">
            <a:avLst/>
          </a:prstGeom>
        </p:spPr>
        <p:txBody>
          <a:bodyPr anchor="t" rtlCol="false" tIns="0" lIns="0" bIns="0" rIns="0">
            <a:spAutoFit/>
          </a:bodyPr>
          <a:lstStyle/>
          <a:p>
            <a:pPr algn="just" marL="350631" indent="-116877" lvl="2">
              <a:lnSpc>
                <a:spcPts val="2835"/>
              </a:lnSpc>
              <a:buFont typeface="Arial"/>
              <a:buChar char="⚬"/>
            </a:pPr>
            <a:r>
              <a:rPr lang="en-US" sz="2025">
                <a:solidFill>
                  <a:srgbClr val="000000"/>
                </a:solidFill>
                <a:latin typeface="Carlito"/>
                <a:ea typeface="Carlito"/>
                <a:cs typeface="Carlito"/>
                <a:sym typeface="Carlito"/>
              </a:rPr>
              <a:t>Website DemoQA thiếu ổn định: Thường xuyên xuất hiện quảng cáo (Ads), Pop-up bất ngờ che khuất các phần tử (Elements) gây ra lỗi Element Not Clickable.</a:t>
            </a:r>
          </a:p>
          <a:p>
            <a:pPr algn="just" marL="350631" indent="-116877" lvl="2">
              <a:lnSpc>
                <a:spcPts val="2835"/>
              </a:lnSpc>
              <a:buFont typeface="Arial"/>
              <a:buChar char="⚬"/>
            </a:pPr>
            <a:r>
              <a:rPr lang="en-US" sz="2025">
                <a:solidFill>
                  <a:srgbClr val="000000"/>
                </a:solidFill>
                <a:latin typeface="Carlito"/>
                <a:ea typeface="Carlito"/>
                <a:cs typeface="Carlito"/>
                <a:sym typeface="Carlito"/>
              </a:rPr>
              <a:t>Xử lý Dữ liệu phức tạp: Các module nâng cao như Web Tables (Bảng động) hoặc luồng Upload/Download File đòi hỏi kỹ thuật tương tác hệ điều hành thay vì DOM thông thường.</a:t>
            </a:r>
          </a:p>
          <a:p>
            <a:pPr algn="just" marL="350631" indent="-116877" lvl="2">
              <a:lnSpc>
                <a:spcPts val="2835"/>
              </a:lnSpc>
              <a:buFont typeface="Arial"/>
              <a:buChar char="⚬"/>
            </a:pPr>
            <a:r>
              <a:rPr lang="en-US" sz="2025">
                <a:solidFill>
                  <a:srgbClr val="000000"/>
                </a:solidFill>
                <a:latin typeface="Carlito"/>
                <a:ea typeface="Carlito"/>
                <a:cs typeface="Carlito"/>
                <a:sym typeface="Carlito"/>
              </a:rPr>
              <a:t>Thời gian phản hồi: Đôi khi máy chủ ReqRes API (hoặc DemoQA) bị quá tải (timeout), khiến script tự động bị rớt (Fail) oan uổng.</a:t>
            </a:r>
          </a:p>
        </p:txBody>
      </p:sp>
      <p:sp>
        <p:nvSpPr>
          <p:cNvPr name="TextBox 10" id="10"/>
          <p:cNvSpPr txBox="true"/>
          <p:nvPr/>
        </p:nvSpPr>
        <p:spPr>
          <a:xfrm rot="0">
            <a:off x="734147" y="6511827"/>
            <a:ext cx="5306561" cy="707301"/>
          </a:xfrm>
          <a:prstGeom prst="rect">
            <a:avLst/>
          </a:prstGeom>
        </p:spPr>
        <p:txBody>
          <a:bodyPr anchor="t" rtlCol="false" tIns="0" lIns="0" bIns="0" rIns="0">
            <a:spAutoFit/>
          </a:bodyPr>
          <a:lstStyle/>
          <a:p>
            <a:pPr algn="just">
              <a:lnSpc>
                <a:spcPts val="4253"/>
              </a:lnSpc>
            </a:pPr>
            <a:r>
              <a:rPr lang="en-US" sz="3038">
                <a:solidFill>
                  <a:srgbClr val="000000"/>
                </a:solidFill>
                <a:latin typeface="Carlito"/>
                <a:ea typeface="Carlito"/>
                <a:cs typeface="Carlito"/>
                <a:sym typeface="Carlito"/>
              </a:rPr>
              <a:t>3. Giải pháp khắc phục (Solutions)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DAHEd0Y49Yw</dc:identifier>
  <dcterms:modified xsi:type="dcterms:W3CDTF">2011-08-01T06:04:30Z</dcterms:modified>
  <cp:revision>1</cp:revision>
  <dc:title>Tên doanh nghiệp</dc:title>
</cp:coreProperties>
</file>